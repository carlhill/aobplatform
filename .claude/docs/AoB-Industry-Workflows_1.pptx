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maps the AoB process across every party in the ecosystem. Six actors, six workflows, one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937760" cy="493776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108960" cy="3108960"/>
          </a:xfrm>
          <a:prstGeom prst="ellipse">
            <a:avLst/>
          </a:prstGeom>
          <a:solidFill>
            <a:srgbClr val="134A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of Benefit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workflows — who does what, and when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billing consent under the Health Insurance Regulations 2018, from 1 July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 ·  19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parties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colours are used for these parties on every following slide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47088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1051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Assignor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the Medicare entitlement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— electronically or on paper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a carer, parent, partner,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or EPOA holder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27632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847088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81051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/ Practice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2340864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bulk bill without a valid AoB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completed AoB for 2 years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24-hour post-claim notice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Bears the compliance exposure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27632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8470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81051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2340864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Captures, verifies and signs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s 65C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retains and audits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back to the PMS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078224"/>
            <a:ext cx="365760" cy="365760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40416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/ DoHDA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572000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DoHDA owns the policy and the data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processes claims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hold enduring registrations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Audits; PSR reviews conduct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3858768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4078224"/>
            <a:ext cx="365760" cy="36576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2" name="Text 20"/>
          <p:cNvSpPr/>
          <p:nvPr/>
        </p:nvSpPr>
        <p:spPr>
          <a:xfrm>
            <a:off x="4992624" y="40416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vendor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35424" y="4572000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Practice, MedicalDirector,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Zedmed, Medtech, Genie/Gentu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Lodges the claim under its own NOI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patient record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3858768"/>
            <a:ext cx="3511296" cy="2029968"/>
          </a:xfrm>
          <a:prstGeom prst="roundRect">
            <a:avLst>
              <a:gd name="adj" fmla="val 450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4078224"/>
            <a:ext cx="365760" cy="365760"/>
          </a:xfrm>
          <a:prstGeom prst="ellipse">
            <a:avLst/>
          </a:prstGeom>
          <a:solidFill>
            <a:srgbClr val="7A7F85"/>
          </a:solidFill>
          <a:ln/>
        </p:spPr>
      </p:sp>
      <p:sp>
        <p:nvSpPr>
          <p:cNvPr id="26" name="Text 24"/>
          <p:cNvSpPr/>
          <p:nvPr/>
        </p:nvSpPr>
        <p:spPr>
          <a:xfrm>
            <a:off x="8723376" y="404164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6176" y="4572000"/>
            <a:ext cx="29992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Tyro, HICAPS, HealthPoint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capture AoB at the terminal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Easyclaim artefact is paper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file returns to the PMS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agreements are available only to GPs — specialists, allied health and optometry use episodic capture only.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assignment of benefit actually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billing is not a discount — it is a transfer of the patient’s Medicare entitlement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02536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holds the entitlement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53288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pays the benefit to the patient, unless they assign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41648" y="2624328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78308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002536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38928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assigns it to the practitioner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253288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exchange, the practitioner charges no out-of-pocket cost. This is the AoB.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0416" y="2624328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78308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002536"/>
            <a:ext cx="384048" cy="384048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7696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lodges and is paid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22208" y="2532888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pays the practitioner directly. No valid AoB, no valid claim.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096512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consequence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4425696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agreement means the claim cannot be lodged. The bulk-billed item is unbillable — and since September 2025 the lodgement window is one year, not five.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950208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096512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55664" y="4425696"/>
            <a:ext cx="5468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~358 million bulk-billed items a year need an AoB. General practice alone is ~135 million, heading toward ~150 million at the Government’s 90% target for 2030.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 Insurance Regulations 2018 s 65C; DoHDA FAQ 16 July 2026; Medicare statistics 2024-25.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— Episodic pre-agreement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captured BEFORE the item is rendered. Uses a basic service description, not an item number.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82880" cy="18288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Assignor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50008" y="1517904"/>
            <a:ext cx="182880" cy="1828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4721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02736" y="151790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858768" y="1472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9784" y="1517904"/>
            <a:ext cx="182880" cy="18288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1" name="Text 9"/>
          <p:cNvSpPr/>
          <p:nvPr/>
        </p:nvSpPr>
        <p:spPr>
          <a:xfrm>
            <a:off x="5385816" y="1472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103120"/>
            <a:ext cx="402336" cy="402336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43584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or arrives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check-in kiosk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front desk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60904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6352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11296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RACGP-approved identifiers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number is NOT one of them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28616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28523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79008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rendered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particulars completed and locked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service description, not item no.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96328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51776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2944" y="2103120"/>
            <a:ext cx="402336" cy="402336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32" name="Text 30"/>
          <p:cNvSpPr/>
          <p:nvPr/>
        </p:nvSpPr>
        <p:spPr>
          <a:xfrm>
            <a:off x="7552944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Assignor signs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71232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signature on tablet, 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tap-to-approve on their own device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64040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20656" y="2103120"/>
            <a:ext cx="402336" cy="40233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38" name="Text 36"/>
          <p:cNvSpPr/>
          <p:nvPr/>
        </p:nvSpPr>
        <p:spPr>
          <a:xfrm>
            <a:off x="982065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14432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written back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838944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s 65C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the patient record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315968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446227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" y="4791456"/>
            <a:ext cx="5010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item rendered falls outside the basic service description, or a different practitioner delivers it, the pre-agreement is void and a post-agreement is required.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4315968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446227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best position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47104" y="4791456"/>
            <a:ext cx="5376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at the desk removes the 15–20% non-response that SMS-only capture guarantees — and with it 9–12 chase calls a day.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Particulars must be complete before signature. Presenting a blank form for signature is an offence.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— Episodic post-agreement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captured AFTER the item is rendered. Requires the MBS item number.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82880" cy="18288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Assignor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50008" y="1517904"/>
            <a:ext cx="182880" cy="1828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4721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02736" y="151790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858768" y="1472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9784" y="1517904"/>
            <a:ext cx="182880" cy="18288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1" name="Text 9"/>
          <p:cNvSpPr/>
          <p:nvPr/>
        </p:nvSpPr>
        <p:spPr>
          <a:xfrm>
            <a:off x="5385816" y="1472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103120"/>
            <a:ext cx="402336" cy="402336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43584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ends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records the items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raised in the PMS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60904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6352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11296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from a clinic-dedicated number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email — ACMA sender ID registered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28616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21031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28523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79008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identifiers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Rate-limited, single-use, expiring link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96328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51776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2944" y="2103120"/>
            <a:ext cx="402336" cy="402336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32" name="Text 30"/>
          <p:cNvSpPr/>
          <p:nvPr/>
        </p:nvSpPr>
        <p:spPr>
          <a:xfrm>
            <a:off x="7552944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Assignor signs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71232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Tap-to-approve or drawn signature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delivered automatically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464040" y="286207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192024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20656" y="2103120"/>
            <a:ext cx="402336" cy="40233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38" name="Text 36"/>
          <p:cNvSpPr/>
          <p:nvPr/>
        </p:nvSpPr>
        <p:spPr>
          <a:xfrm>
            <a:off x="982065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14432" y="212140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lodged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838944" y="2596896"/>
            <a:ext cx="1645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 must exist BEFORE lodgement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retained for 2 years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315968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446227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burden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" y="4791456"/>
            <a:ext cx="5010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never respond. At 60 bulk-billed patients a day that is 9–12 chase calls plus 30–45 minutes of end-of-day admin — modelled at $4,000–5,000 per FTE GP in year one.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4315968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446227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rule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47104" y="4791456"/>
            <a:ext cx="5376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agreement covers one practitioner, one patient, one day. Two practitioners on the same day — even at the same site — need two agreements.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assignment is accepted as a fallback until 30 June 2027, and still requires the completed document to be stored and sent to the patient.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3 — Enduring agreement, enrolment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once. Covers all future in-scope items until terminated. General practice only.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02336" cy="402336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8653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established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340864"/>
            <a:ext cx="1645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MyMedicare registered, 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care resident, OR ACCHO/AMS patient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60904" y="269748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664208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847088"/>
            <a:ext cx="402336" cy="402336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18653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agreed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35808" y="2340864"/>
            <a:ext cx="1645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Category, Group, Subgroup or item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is then bound to bulk bill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28616" y="269748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664208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18470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79008" y="18653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built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0" y="2340864"/>
            <a:ext cx="1645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method and termination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are mandatory content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96328" y="269748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51776" y="1664208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2944" y="1847088"/>
            <a:ext cx="402336" cy="402336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24" name="Text 22"/>
          <p:cNvSpPr/>
          <p:nvPr/>
        </p:nvSpPr>
        <p:spPr>
          <a:xfrm>
            <a:off x="755294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18653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Assignor signs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645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aged 14+ with a third-party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assignor must also declare in writing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64040" y="269748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19488" y="1664208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0656" y="1847088"/>
            <a:ext cx="402336" cy="402336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30" name="Text 28"/>
          <p:cNvSpPr/>
          <p:nvPr/>
        </p:nvSpPr>
        <p:spPr>
          <a:xfrm>
            <a:off x="982065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14432" y="18653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with SA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38944" y="2340864"/>
            <a:ext cx="1645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required — see slide 10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 tracked from day one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133088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42793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practitioner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" y="4608576"/>
            <a:ext cx="3182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 practice. Ten GPs and 2,000 registered patients is up to 20,000 agreements. Batch enrolment is essential, not optional.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80560" y="4133088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2793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binding undertaking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18304" y="4608576"/>
            <a:ext cx="3182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signed, the practitioner must bulk bill every in-scope item until termination. Changing scope means terminate and re-create.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12480" y="4133088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0224" y="427939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to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50224" y="4608576"/>
            <a:ext cx="32735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physicians, specialists, allied health, optometry. Those segments have no relief mechanism at all.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pathways: MyMedicare, residential aged care, ACCHO/AMS. No disability, homelessness or general chronic-disease pathway exists.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4 — Enduring agreement, the ongoing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24-hour notice is a statement, not a request. Nothing is being approved.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38528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3584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rendered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4323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step. The agreement already covers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2505456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737360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93852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lodged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9312" y="24323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claiming, under the existing agreement.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2505456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737360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9385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6016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sent within 24 hours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24323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name, patient name, date of item, benefit amount — by the method named in the agreement.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15984" y="2505456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62288" y="1737360"/>
            <a:ext cx="2615184" cy="1755648"/>
          </a:xfrm>
          <a:prstGeom prst="roundRect">
            <a:avLst>
              <a:gd name="adj" fmla="val 520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63456" y="1938528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57232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Assignor is informed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81744" y="24323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required. No approval. No effect on payment.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85616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931920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assignor ignores the message, the practice is still paid.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4297680"/>
            <a:ext cx="10479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 follows the claim; it does not gate it. Non-response has no effect on revenue. A delivery failure is a compliance exposure, not a blocked payment — the opposite of episodic capture, where non-response stops the money.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47488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519379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for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" y="5522976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aged care and ACCHO/AMS enduring agreements. MyMedicare pathway only.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5047488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519379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built this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47104" y="5522976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24-hour deadlines a month cannot be met by hand. Automation is what makes enduring viable rather than a trap.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5 — Residential aged care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setting, the highest density of items, and no published operating model from anyone.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77840" cy="2788920"/>
          </a:xfrm>
          <a:prstGeom prst="roundRect">
            <a:avLst>
              <a:gd name="adj" fmla="val 3279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39696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often cannot sign — dementia, delirium, palliative status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can consent is rarely present; families visit at weekends, GPs attend on weekdays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 is visiting, often with poor connectivity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are per practitioner — four visiting GPs across 90 residents is up to 360 agreements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"patient unable to sign" annotation was abolished in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162763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7728" y="15727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7728" y="18653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list loaded; responsible person identified per resident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2350008"/>
            <a:ext cx="347472" cy="347472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67728" y="22951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remotely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67728" y="25877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sent to the responsible person’s own phone or email — not the resident’s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3072384"/>
            <a:ext cx="347472" cy="347472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7728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offline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67728" y="33101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works with no connectivity; covered residents flagged, gaps queued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379476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67728" y="3739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403250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leaves the home → agreement ceases. A hospital admission does NOT end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718304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at stake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5047488"/>
            <a:ext cx="10588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Australia reported members ringing to say GPs "were saying they just wouldn’t come in anymore". ~196,000 permanent residents receive more than 4.8 million GP attendances a year — about 17 per resident, the highest per-capita contact of any population in Australia. This is a question of medical attendance in nursing homes, not administration.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6 — Off-boarding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routes out, and only two of them generate a notice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129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65376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84708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Patient-initiated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2999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may end an enduring agreement even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somebody else entered it for them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notice is generated for them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2 BUSINESS days after notice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retention flow, no friction — this is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of consent, not a cancellation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45920"/>
            <a:ext cx="351129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865376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2624" y="184708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Practitioner-initiated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5424" y="2377440"/>
            <a:ext cx="2999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may end it by written notice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must give at least 2 days notice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termination needed when a GP departs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 = terminate and re-create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registration is a hard stop: cease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agreements, halt all notices, block capture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1129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865376"/>
            <a:ext cx="365760" cy="365760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23376" y="184708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no notice at 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377440"/>
            <a:ext cx="2999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MyMedicare registration lost or transferred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leaves the nominated 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stops living in the aged care home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ceases to be an ACCHO/AMS patient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covered by another’s agreement turns 14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recorded with SA before the anniversary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809744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category is the third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" y="5138928"/>
            <a:ext cx="10588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cessation happens silently. An agreement relied on after it ceased produces a claim that was never validly assigned — recoverable on audit, and invisible to the practice until someone comes looking.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7 — Managed follow-up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is made only where an approval is blocking a payment. Everything else is left alone.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a call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195681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unsigned episodic agreement that is holding up a claim. The item has been rendered, the money cannot be claimed, and only the assignor can release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536192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645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triggers a call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65392" y="195681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24-hour post-claim notice — it is one-way, nothing is approved, and non-response has no effect on payment. Nor patients flagged confidential, nor anyone who has already declined.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2084832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80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29443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cascade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34747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reminder, then email. Roughly 80–85% resolve here and never reach a call.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660904" y="352044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2798064"/>
            <a:ext cx="2084832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980944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93008" y="29443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 — attempt 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35808" y="34747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identity, explains what is being signed, walks the assignor through it in their language.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928616" y="352044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2798064"/>
            <a:ext cx="2084832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2980944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24" name="Text 22"/>
          <p:cNvSpPr/>
          <p:nvPr/>
        </p:nvSpPr>
        <p:spPr>
          <a:xfrm>
            <a:off x="528523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29443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 — attempt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0" y="34747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time of day. Voicemail with a callback path and a link.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196328" y="352044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1776" y="2798064"/>
            <a:ext cx="2084832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2944" y="2980944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30" name="Text 28"/>
          <p:cNvSpPr/>
          <p:nvPr/>
        </p:nvSpPr>
        <p:spPr>
          <a:xfrm>
            <a:off x="7552944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28432" y="29443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call — attempt 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71232" y="34747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for confusion, distress, a complex assignor, or anyone who asks for a person.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464040" y="3520440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9488" y="2798064"/>
            <a:ext cx="2084832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0656" y="2980944"/>
            <a:ext cx="384048" cy="384048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36" name="Text 34"/>
          <p:cNvSpPr/>
          <p:nvPr/>
        </p:nvSpPr>
        <p:spPr>
          <a:xfrm>
            <a:off x="982065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96144" y="29443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hand back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38944" y="34747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attempts or seven days, whichever comes first. The practice is told, with a recommendation.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48640" y="45171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step — approved → signed, validated, stored, written back to the practice management system, and the claim is released.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882896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502920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cap matters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6384" y="535838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four costs more than the item is worth, and repeated calls about a bill read as harassment. The cap protects the margin and the patient at the same time.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09360" y="4882896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7104" y="5029200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practice gets back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47104" y="5358384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name, what was attempted and when, and a recommendation: chase it themselves, bill privately, or write it off. They decide, not us.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three-attempt cap is a default, not a rule — it should tighten as the twelve-month lodgement deadline approaches.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Services Australia lifecycle — and the hole in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enduring agreements is a validity requirement. Nothing has been published about how.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4015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901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30 Jun 2027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2257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are effective immediately without being recorded with Services Australia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41648" y="245059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1719072"/>
            <a:ext cx="34015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01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anniversary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232257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agreement CEASES unless recorded with Services Australia before its own anniversary — 65CA(8)(e)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0416" y="2450592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1719072"/>
            <a:ext cx="34015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901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 Jul 2027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32257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with Services Australia becomes a requirement for the agreement to be valid at all — 65CB(5)(h)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has been published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5029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portal, no form, no HPOS function, no API. The Department’s own 40-page FAQ of 16 July 2026 — issued three weeks after the instrument was made — describes enduring agreements across four pages and never mentions this requirement once.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5669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8039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complete design would need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206240"/>
            <a:ext cx="51206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record new agreements upward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report terminations upward — a record that can be opened but never closed decays within a year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reports automatic cessations downward — it knows about MyMedicare changes before the practice does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Amendment (Enduring Agreements) Regulations 2026 — F2026L00824, ss 65CA(8)(e) and 65CB(5)(h).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accountable for what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obligations sit with the practitioner. Everything else is support.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0" cy="402336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4592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49040" y="1645920"/>
            <a:ext cx="1965960" cy="402336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7056" y="1645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Assignor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645920"/>
            <a:ext cx="1965960" cy="402336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3016" y="1645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645920"/>
            <a:ext cx="1965960" cy="402336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08976" y="1645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/ Rail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46920" y="1645920"/>
            <a:ext cx="1965960" cy="402336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4936" y="1645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048256"/>
            <a:ext cx="32004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048256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required data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2048256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204825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0" y="2048256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204825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2048256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8976" y="204825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46920" y="2048256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4936" y="204825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standard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2450592"/>
            <a:ext cx="320040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245059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particulars before signature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2450592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245059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15000" y="2450592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3016" y="245059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2450592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8976" y="245059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46920" y="2450592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74936" y="245059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2852928"/>
            <a:ext cx="32004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2852928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agreement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2852928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77056" y="28529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15000" y="2852928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43016" y="28529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80960" y="2852928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28529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646920" y="2852928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74936" y="285292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3255264"/>
            <a:ext cx="320040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325526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agreement for 2 years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49040" y="3255264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77056" y="325526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15000" y="3255264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3016" y="325526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80960" y="3255264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325526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646920" y="3255264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74936" y="325526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3657600"/>
            <a:ext cx="32004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" y="365760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 copy on request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749040" y="365760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77056" y="36576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15000" y="365760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43016" y="36576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80960" y="365760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08976" y="36576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646920" y="365760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74936" y="36576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48640" y="4059936"/>
            <a:ext cx="320040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4059936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 the claim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749040" y="4059936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77056" y="405993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715000" y="4059936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43016" y="405993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680960" y="4059936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08976" y="405993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646920" y="4059936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74936" y="405993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and pays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48640" y="4462272"/>
            <a:ext cx="32004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" y="446227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24-hour notice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749040" y="4462272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77056" y="44622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715000" y="4462272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43016" y="44622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680960" y="4462272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08976" y="44622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646920" y="4462272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74936" y="446227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48640" y="4864608"/>
            <a:ext cx="320040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6656" y="4864608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enduring agreements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749040" y="4864608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77056" y="486460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715000" y="4864608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43016" y="486460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680960" y="4864608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08976" y="486460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9646920" y="4864608"/>
            <a:ext cx="1965960" cy="402336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74936" y="486460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548640" y="5266944"/>
            <a:ext cx="32004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6656" y="526694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an agreement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749040" y="5266944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77056" y="526694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initiate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5715000" y="5266944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43016" y="526694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initiate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7680960" y="5266944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08976" y="526694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9646920" y="5266944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774936" y="526694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told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"Accountable" marks the party that carries the legal exposure if the step is not done. In every row but one, that is the practice.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AoBPlatform sits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rail, beside the PMS, and in the segments nobody has served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877824"/>
          </a:xfrm>
          <a:prstGeom prst="roundRect">
            <a:avLst>
              <a:gd name="adj" fmla="val 1041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10515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 ·  capture  ·  verify  ·  sign  ·  validate  ·  store  ·  notify  ·  audit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962656"/>
            <a:ext cx="365760" cy="365760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92608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with no path today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493008"/>
            <a:ext cx="29992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Evolution, Genie/Gentu, Clinic to Cloud, Shexie; and the allied stack — PracSuite, Nookal, Splose, Coreplus, Zanda. The engagement layer serves only Best Practice and MedicalDirector.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2743200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2962656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92624" y="292608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nobody has shipped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35424" y="3493008"/>
            <a:ext cx="29992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capture at the desk. Enduring agreements beyond one vendor. The 24-hour notice engine. Anniversary tracking. A patient portal with one-action termination. Any language other than English.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2743200"/>
            <a:ext cx="3511296" cy="2377440"/>
          </a:xfrm>
          <a:prstGeom prst="roundRect">
            <a:avLst>
              <a:gd name="adj" fmla="val 384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962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23376" y="292608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evidence, not the form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66176" y="3493008"/>
            <a:ext cx="29992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free, government-published and cannot be certified by anyone. The defensible asset is the verified, retained, audited record of who consented to what, with whom, and whether it is still live.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integration alone delivers consent, not compliance — the Tyro Easyclaim artefact is paper only and no digital file returns to the practice management system.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dates decide how much of this is worth building, and when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01568" cy="2423160"/>
          </a:xfrm>
          <a:prstGeom prst="roundRect">
            <a:avLst>
              <a:gd name="adj" fmla="val 3774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4288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Jul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77977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force now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3163824"/>
            <a:ext cx="2889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set applies. Prescribed forms abolished. Enduring agreements available. Practitioner signature no longer required.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2103120"/>
            <a:ext cx="3401568" cy="2423160"/>
          </a:xfrm>
          <a:prstGeom prst="roundRect">
            <a:avLst>
              <a:gd name="adj" fmla="val 3774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04288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Jun 2027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7977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closes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3163824"/>
            <a:ext cx="2889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assignment ends. Every agreement must be signed, electronically or on paper. Every practice still relying on verbal becomes a buyer with a deadline.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66176" y="2103120"/>
            <a:ext cx="3401568" cy="2423160"/>
          </a:xfrm>
          <a:prstGeom prst="roundRect">
            <a:avLst>
              <a:gd name="adj" fmla="val 3774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2304288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Jul 2027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22208" y="277977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becomes mandatory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22208" y="3163824"/>
            <a:ext cx="2889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agreements must be recorded with Services Australia to be valid — and no mechanism for doing so has been published.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window runs from now to mid-2027. After that the major vendors will have caught up and the urgency is gone.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071616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 Insurance Regulations 2018 Div 7A; F2025L00983; F2026L00824; DoHDA "Assignment of Medicare Benefits for Bulk Billing — FAQ", 16 July 2026; RACGP Standards for general practices 5th 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of Benefit — Industry Workflows</dc:title>
  <dc:subject>PptxGenJS Presentation</dc:subject>
  <dc:creator>AoBPlatform</dc:creator>
  <cp:lastModifiedBy>AoBPlatform</cp:lastModifiedBy>
  <cp:revision>1</cp:revision>
  <dcterms:created xsi:type="dcterms:W3CDTF">2026-08-20T03:50:39Z</dcterms:created>
  <dcterms:modified xsi:type="dcterms:W3CDTF">2026-08-20T03:50:39Z</dcterms:modified>
</cp:coreProperties>
</file>