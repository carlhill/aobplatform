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120640" cy="5120640"/>
          </a:xfrm>
          <a:prstGeom prst="ellipse">
            <a:avLst/>
          </a:prstGeom>
          <a:solidFill>
            <a:srgbClr val="14505F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931920"/>
            <a:ext cx="3291840" cy="3291840"/>
          </a:xfrm>
          <a:prstGeom prst="ellipse">
            <a:avLst/>
          </a:prstGeom>
          <a:solidFill>
            <a:srgbClr val="134A5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830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Three-way reconciliation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67004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· Billing · Payment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2735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ledgers exist. Nobody compares all three — because nobody has held the consent one before.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AoBPlatform · 19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ledgers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loosely compare two of them. The third has never been machine-readable until now.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40156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105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86384" y="22311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AoBPlatform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6384" y="2596896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agreed to what, with whom, on what date — and whether that agreement is still live today.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41648" y="2596896"/>
            <a:ext cx="256032" cy="201168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664208"/>
            <a:ext cx="340156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105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45152" y="22311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management system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45152" y="2596896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claimed, for which patient, by which practitioner, under which item number.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00416" y="2596896"/>
            <a:ext cx="256032" cy="201168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1664208"/>
            <a:ext cx="340156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6B4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8105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4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03920" y="22311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Australia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03920" y="2596896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assessed, what was paid, what was rejected, and the reason code for each.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041648"/>
            <a:ext cx="5486400" cy="1691640"/>
          </a:xfrm>
          <a:prstGeom prst="roundRect">
            <a:avLst>
              <a:gd name="adj" fmla="val 540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206240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compared today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6384" y="4718304"/>
            <a:ext cx="50109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against payment, loosely — the practice checks the deposit total against what it expected. Consent is not compared at all, because until now it was a signature on paper.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4041648"/>
            <a:ext cx="5852160" cy="1691640"/>
          </a:xfrm>
          <a:prstGeom prst="roundRect">
            <a:avLst>
              <a:gd name="adj" fmla="val 540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4206240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be able to compare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47104" y="4718304"/>
            <a:ext cx="53766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three, every day. Nobody else can, because nobody else holds the consent ledger — and a competitor without it can only ever reconcile two of the three.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 — the regulator is under-resourced, not uninterested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Under-detection is not the same as low exposure. It means the exposure is unrealised and unquantified.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401568" cy="1417320"/>
          </a:xfrm>
          <a:prstGeom prst="roundRect">
            <a:avLst>
              <a:gd name="adj" fmla="val 645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922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86384" y="2395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projects run each year, against 511 million claim transactions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07408" y="1664208"/>
            <a:ext cx="3401568" cy="1417320"/>
          </a:xfrm>
          <a:prstGeom prst="roundRect">
            <a:avLst>
              <a:gd name="adj" fmla="val 645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7922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45152" y="2395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risks brought to regulators are progressed to any treatment pathway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66176" y="1664208"/>
            <a:ext cx="3401568" cy="1417320"/>
          </a:xfrm>
          <a:prstGeom prst="roundRect">
            <a:avLst>
              <a:gd name="adj" fmla="val 645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7922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503920" y="2395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has been driven by referrals and tip-offs; proactive analytics were still developing as at June 2024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11064240" cy="2377440"/>
          </a:xfrm>
          <a:prstGeom prst="roundRect">
            <a:avLst>
              <a:gd name="adj" fmla="val 3846"/>
            </a:avLst>
          </a:prstGeom>
          <a:solidFill>
            <a:srgbClr val="FBEDEA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438144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direction of travel is unmistakable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384048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lodgement window halved to one year in September 2025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September 2025 Act added forgery and identity fraud to pursuable offences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removed restrictions on using review information as evidence in prosecutions, debt recovery and practitioner-regulator proceedings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84048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$146.8 million over four years from 2026-27 for integrity capability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$674.1 million in savings forecast over the same period — government has budgeted for finding more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claim restrictions and system controls on high-priced items from 1 November 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 Review 2023; Health Legislation Amendment (Improved Medicare Integrity and Other Measures) Act 2025; Budget 2026-27.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finds that is worth money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half that sells. Lead with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511296" cy="1828800"/>
          </a:xfrm>
          <a:prstGeom prst="roundRect">
            <a:avLst>
              <a:gd name="adj" fmla="val 5000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47088"/>
            <a:ext cx="384048" cy="384048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43584" y="182880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signed, never claimed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2340864"/>
            <a:ext cx="3035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consent exists. The claim was never lodged. Pure lost revenue, invisible to every system a practice runs today.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79392" y="1664208"/>
            <a:ext cx="3511296" cy="1828800"/>
          </a:xfrm>
          <a:prstGeom prst="roundRect">
            <a:avLst>
              <a:gd name="adj" fmla="val 5000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47088"/>
            <a:ext cx="384048" cy="384048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82880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Rejections nobody worked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17136" y="2340864"/>
            <a:ext cx="3035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 code came back and the claim was never corrected and resubmitted.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10144" y="1664208"/>
            <a:ext cx="3511296" cy="1828800"/>
          </a:xfrm>
          <a:prstGeom prst="roundRect">
            <a:avLst>
              <a:gd name="adj" fmla="val 5000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1847088"/>
            <a:ext cx="384048" cy="384048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05088" y="182880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approaching the twelve-month cliff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47888" y="2340864"/>
            <a:ext cx="3035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days remaining. After that date the item is unbillable, permanently.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75888"/>
            <a:ext cx="3511296" cy="1828800"/>
          </a:xfrm>
          <a:prstGeom prst="roundRect">
            <a:avLst>
              <a:gd name="adj" fmla="val 5000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858768"/>
            <a:ext cx="384048" cy="384048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43584" y="384048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less than claimed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" y="4352544"/>
            <a:ext cx="3035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processing report flagged a line where the benefit differed from the amount claimed, and nobody read 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3675888"/>
            <a:ext cx="3511296" cy="1828800"/>
          </a:xfrm>
          <a:prstGeom prst="roundRect">
            <a:avLst>
              <a:gd name="adj" fmla="val 5000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858768"/>
            <a:ext cx="384048" cy="384048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74336" y="384048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billing incentives missed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17136" y="4352544"/>
            <a:ext cx="3035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$20.65 in metropolitan areas, and up to 190% of that in the most remote.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10144" y="3675888"/>
            <a:ext cx="3511296" cy="1828800"/>
          </a:xfrm>
          <a:prstGeom prst="roundRect">
            <a:avLst>
              <a:gd name="adj" fmla="val 5000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11312" y="3858768"/>
            <a:ext cx="384048" cy="384048"/>
          </a:xfrm>
          <a:prstGeom prst="ellipse">
            <a:avLst/>
          </a:prstGeom>
          <a:solidFill>
            <a:srgbClr val="B23A26"/>
          </a:solidFill>
          <a:ln/>
        </p:spPr>
      </p:sp>
      <p:sp>
        <p:nvSpPr>
          <p:cNvPr id="31" name="Text 29"/>
          <p:cNvSpPr/>
          <p:nvPr/>
        </p:nvSpPr>
        <p:spPr>
          <a:xfrm>
            <a:off x="8211312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05088" y="384048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loading at risk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47888" y="4352544"/>
            <a:ext cx="3035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12.5% loading requires every GP to bulk bill 100% of eligible services. A handful of privately billed items can forfeit a whole quarter for the whole practice.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Surfacing the practice-loading risk in week two rather than at quarter end is, on its own, worth more than the subscription.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finds that avoids trouble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invisible to a practice today.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511296" cy="1828800"/>
          </a:xfrm>
          <a:prstGeom prst="roundRect">
            <a:avLst>
              <a:gd name="adj" fmla="val 5000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28800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with no valid agreement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86384" y="2340864"/>
            <a:ext cx="3035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Lodged, paid, and unsupported. Recoverable on audit, because the benefit was never validly assigned.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79392" y="1664208"/>
            <a:ext cx="3511296" cy="1828800"/>
          </a:xfrm>
          <a:prstGeom prst="roundRect">
            <a:avLst>
              <a:gd name="adj" fmla="val 5000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7136" y="1828800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against a ceased agreement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17136" y="2340864"/>
            <a:ext cx="3035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failure mode — MyMedicare deregistration, a resident leaving aged care, a patient turning 14. No notice is given to anyone.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10144" y="1664208"/>
            <a:ext cx="3511296" cy="1828800"/>
          </a:xfrm>
          <a:prstGeom prst="roundRect">
            <a:avLst>
              <a:gd name="adj" fmla="val 5000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888" y="1828800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practitioner named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47888" y="2340864"/>
            <a:ext cx="3035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agreement names one practitioner; another delivered the item. If the agreement does not match the claim, it does not meet the requirement for that claim.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3511296" cy="1828800"/>
          </a:xfrm>
          <a:prstGeom prst="roundRect">
            <a:avLst>
              <a:gd name="adj" fmla="val 5000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840480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outside the service description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6384" y="4352544"/>
            <a:ext cx="3035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pre-agreement covers a category. The item delivered fell outside it, and no post-agreement was obtained.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79392" y="3675888"/>
            <a:ext cx="3511296" cy="1828800"/>
          </a:xfrm>
          <a:prstGeom prst="roundRect">
            <a:avLst>
              <a:gd name="adj" fmla="val 5000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7136" y="3840480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not dispatched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17136" y="4352544"/>
            <a:ext cx="3035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enduring claim with no 24-hour notice sent, or one sent by a method other than the one named in the agreement.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10144" y="3675888"/>
            <a:ext cx="3511296" cy="1828800"/>
          </a:xfrm>
          <a:prstGeom prst="roundRect">
            <a:avLst>
              <a:gd name="adj" fmla="val 5000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3840480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gaps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47888" y="4352544"/>
            <a:ext cx="30358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not retrievable for the full two years, or not producible on request.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factually, never characterised as fraud. The practice decides what to do, with its own professional advice.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 motion — the onboarding retrospective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over the practice’s last twelve months at signup, before they have paid anything.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836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43584" y="18653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2377440"/>
            <a:ext cx="21396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to the practice management system and the payment reports. No change to how they work.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91256" y="2615184"/>
            <a:ext cx="256032" cy="201168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9856" y="1700784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21024" y="18836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18653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twelve months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377440"/>
            <a:ext cx="21396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every claim to a consent record and a payment. Nobody has ever done this for them.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62472" y="2615184"/>
            <a:ext cx="256032" cy="201168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1700784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883664"/>
            <a:ext cx="384048" cy="384048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86016" y="18653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 the findings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28816" y="2377440"/>
            <a:ext cx="21396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Unclaimed items. Unworked rejections. Claims about to expire. And the compliance gaps, stated plainly.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33688" y="2615184"/>
            <a:ext cx="256032" cy="201168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62288" y="1700784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63456" y="1883664"/>
            <a:ext cx="384048" cy="384048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57232" y="18653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numbers do the selling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00032" y="2377440"/>
            <a:ext cx="21396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retrospective is the demonstration, the business case and the price justification in one artefact.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DF6E9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3977640"/>
            <a:ext cx="10479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you get into a Medtech practice that has never bought a point solution — you arrive with found money, not a pitch.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2615184" cy="777240"/>
          </a:xfrm>
          <a:prstGeom prst="roundRect">
            <a:avLst>
              <a:gd name="adj" fmla="val 941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14807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542239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· In the subscription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19856" y="5074920"/>
            <a:ext cx="2615184" cy="777240"/>
          </a:xfrm>
          <a:prstGeom prst="roundRect">
            <a:avLst>
              <a:gd name="adj" fmla="val 941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02736" y="514807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retrospective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02736" y="542239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at signup · Free — it is the demonstration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91072" y="5074920"/>
            <a:ext cx="2615184" cy="777240"/>
          </a:xfrm>
          <a:prstGeom prst="roundRect">
            <a:avLst>
              <a:gd name="adj" fmla="val 941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514807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reconciliation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73952" y="542239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· Paid, or a higher tier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162288" y="5074920"/>
            <a:ext cx="2615184" cy="777240"/>
          </a:xfrm>
          <a:prstGeom prst="roundRect">
            <a:avLst>
              <a:gd name="adj" fmla="val 941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45168" y="514807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Pre-audit readiness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345168" y="542239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 · High value, pairs with audit response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guardrails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these matters more than every feature in the product.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BEDEA"/>
          </a:solidFill>
          <a:ln w="25400">
            <a:solidFill>
              <a:srgbClr val="B23A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773936"/>
            <a:ext cx="10442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never suggests a higher-value item. Not a hint. Not a "you may be eligible for".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536" y="2194560"/>
            <a:ext cx="10442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reports what was consented and what was claimed. It does not optimise billing. The same reconciliation engine pointed the other way is an upcoding assistant — and upcoding is the most-cited pattern in review findings. Building it, or being perceived to have built it, would end the company faster than any breach.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310128"/>
            <a:ext cx="5440680" cy="1133856"/>
          </a:xfrm>
          <a:prstGeom prst="roundRect">
            <a:avLst>
              <a:gd name="adj" fmla="val 806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474720"/>
            <a:ext cx="4965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call it fraud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" y="3986784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discrepancy factually: "claim lodged 14 March; no agreement on record." Nothing more.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3310128"/>
            <a:ext cx="5440680" cy="1133856"/>
          </a:xfrm>
          <a:prstGeom prst="roundRect">
            <a:avLst>
              <a:gd name="adj" fmla="val 806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3474720"/>
            <a:ext cx="4965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decides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9944" y="3986784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surface, they act, with their own advice. We do not self-report on their behalf and we do not pass their findings 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608576"/>
            <a:ext cx="5440680" cy="1133856"/>
          </a:xfrm>
          <a:prstGeom prst="roundRect">
            <a:avLst>
              <a:gd name="adj" fmla="val 806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4773168"/>
            <a:ext cx="4965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their data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6384" y="5285232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aggregated into a saleable product, not used in marketing without specific consent.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4608576"/>
            <a:ext cx="5440680" cy="1133856"/>
          </a:xfrm>
          <a:prstGeom prst="roundRect">
            <a:avLst>
              <a:gd name="adj" fmla="val 806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4773168"/>
            <a:ext cx="4965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assurance, not fear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9944" y="5285232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 shows money found, not risk exposed. Both are real. Only one makes a practice want to open it again next week.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Cross-practice pattern reporting is a separate capability with human review attached, and must not be confused with this.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solidFill>
            <a:srgbClr val="1450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may be the strongest idea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56816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938528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pays for itself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450592"/>
            <a:ext cx="49286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revenue converts the sale from a cost centre to a profit centre. "We found $X you had not claimed" is the best renewal conversation in software.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9944" y="1956816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11" name="Text 9"/>
          <p:cNvSpPr/>
          <p:nvPr/>
        </p:nvSpPr>
        <p:spPr>
          <a:xfrm>
            <a:off x="6409944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1938528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natural annuity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28232" y="2450592"/>
            <a:ext cx="49286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every day, forever, and its value grows with the size of the consent ledger.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648456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630168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defensible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4142232"/>
            <a:ext cx="49286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competitor without the consent ledger can reconcile two of the three at best. That is not a feature gap, it is a data gap.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42900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9944" y="3648456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9944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630168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reframes compliance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28232" y="4142232"/>
            <a:ext cx="49286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unbounded worry into a specific, dated, actionable list the practice can work through on its own timetable.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1937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 three sets of records that have never been compared: what your patients agreed to, what you claimed, and what Medicare paid.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12648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Philip Review 2023; PSR Annual Report 2024-25; ANAO Reports No. 17 2020-21 and No. 7 2024-25; Health Legislation Amendment (Improved Medicare Integrity and Other Measures) Act 2025; Budget 2026-27.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Three-way reconciliation</dc:title>
  <dc:subject>PptxGenJS Presentation</dc:subject>
  <dc:creator>AoBPlatform</dc:creator>
  <cp:lastModifiedBy>AoBPlatform</cp:lastModifiedBy>
  <cp:revision>1</cp:revision>
  <dcterms:created xsi:type="dcterms:W3CDTF">2026-08-20T03:01:27Z</dcterms:created>
  <dcterms:modified xsi:type="dcterms:W3CDTF">2026-08-20T03:01:27Z</dcterms:modified>
</cp:coreProperties>
</file>