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 (current)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5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General practice</c:v>
                  </c:pt>
                  <c:pt idx="1">
                    <c:v>Pathology and imaging</c:v>
                  </c:pt>
                  <c:pt idx="2">
                    <c:v>Allied health</c:v>
                  </c:pt>
                  <c:pt idx="3">
                    <c:v>Specialists</c:v>
                  </c:pt>
                  <c:pt idx="4">
                    <c:v>Optometry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135</c:v>
                </c:pt>
                <c:pt idx="1">
                  <c:v>175</c:v>
                </c:pt>
                <c:pt idx="2">
                  <c:v>28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2030 (projected)</c:v>
                </c:pt>
              </c:strCache>
            </c:strRef>
          </c:tx>
          <c:spPr>
            <a:solidFill>
              <a:srgbClr val="C97B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5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General practice</c:v>
                  </c:pt>
                  <c:pt idx="1">
                    <c:v>Pathology and imaging</c:v>
                  </c:pt>
                  <c:pt idx="2">
                    <c:v>Allied health</c:v>
                  </c:pt>
                  <c:pt idx="3">
                    <c:v>Specialists</c:v>
                  </c:pt>
                  <c:pt idx="4">
                    <c:v>Optometry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150</c:v>
                </c:pt>
                <c:pt idx="1">
                  <c:v>186</c:v>
                </c:pt>
                <c:pt idx="2">
                  <c:v>31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5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5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B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A6B72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A6B72"/>
                    </a:solidFill>
                    <a:latin typeface="Arial"/>
                  </a:rPr>
                  <a:t>Bulk-billed items per year (millions)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case deck. Companion to the industry workflows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554480"/>
            <a:ext cx="5303520" cy="5303520"/>
          </a:xfrm>
          <a:prstGeom prst="ellipse">
            <a:avLst/>
          </a:prstGeom>
          <a:solidFill>
            <a:srgbClr val="14505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474720" cy="3474720"/>
          </a:xfrm>
          <a:prstGeom prst="ellipse">
            <a:avLst/>
          </a:prstGeom>
          <a:solidFill>
            <a:srgbClr val="134A5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91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AoBPlatform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5786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8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case, benefits and adjacent opportunities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182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consent and compliance record for Medicare bulk billing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statutory obligation with a deadline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regulation, not by preference. Non-discretionary, recurring, and dated.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836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signature, no payment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414016"/>
            <a:ext cx="2926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bulk-billed item without a valid agreement cannot be claimed. Since September 2025 the lodgement window is one year, not five — a delayed agreement is a lost item.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7408" y="1700784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8836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fallback closes 30 June 2027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45152" y="2414016"/>
            <a:ext cx="2926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assignment ends. Every practice still relying on it becomes a buyer with a date on the calendar.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66176" y="1700784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8836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certifies the answer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0" y="2414016"/>
            <a:ext cx="2926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Department states it "is unable to review, approve or provide assurance on assignment of benefit agreement templates" and tells providers to seek legal advice.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BEDEA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261104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guidance has moved three times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4663440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twice, then materially reversed eight working days before commencement. One vendor spent roughly $1 million and had to withdraw a build already shipped to 1,500 clinics. Practices have lost confidence in their software vendors on this specific topic — which is the opening.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Regulations 2018 Div 7A; DoHDA FAQ 16 July 2026 p.11; Medical Republic, June 2026.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size of the pool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bulk-billed item needs an agreement. Volume is set by policy, and policy is pushing it up.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358m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96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Bulk-billed Medicare items a year, each requiring an assignment of benefit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29000" y="169164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~135m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429000" y="2496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practice alone — heading toward ~150m at the 90% target for 2030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69164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84.1%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309360" y="2496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bulk billing, June 2026 quarter — up 4.9 points year on year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89720" y="1691640"/>
            <a:ext cx="2788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$8.5bn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89720" y="249631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package driving the increase, plus a 12.5% practice loading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064240" cy="50292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54680" y="3703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7,132 accredited practices · 40,375 GPs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37033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served — but Medtech and the Magentus stack have no path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Allied health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54680" y="4206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28.0m Medicare attendances a year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420624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Badly served. Cliniko has no native capture; PracSuite, Nookal, Splose, Coreplus, Zanda have published nothing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Optometry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154680" y="4709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~7,400 optometrists · &gt;11m items · ~94% bulk billed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47091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bulk-billing rate of any segment. Nothing found from any vendor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5212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54680" y="5212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35.6m referred attendances · 28–37% bulk billed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46520" y="52120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Magentus admits its release does not store the signed agreement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RACGP Health of the Nation 2025; AIHW 2024-25; Productivity Commission RoGS 2026; Medicare statistics 2024-25.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Bulk-billed items requiring an assignment, by segment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counts ITEMS, not agreements. The two numbers are very different — see the panel on the right.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67512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45920"/>
            <a:ext cx="4663440" cy="3154680"/>
          </a:xfrm>
          <a:prstGeom prst="roundRect">
            <a:avLst>
              <a:gd name="adj" fmla="val 2899"/>
            </a:avLst>
          </a:prstGeom>
          <a:solidFill>
            <a:srgbClr val="FBEDEA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54112" y="17739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not agreements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54112" y="21579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collapse the item count into a much smaller agreement count: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54112" y="2523744"/>
            <a:ext cx="4206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agreement covers one practitioner, one patient, one day — so several items in a single visit share a single agreement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enduring agreement covers all future in-scope items for that practitioner, indefinitely. It is signed once and never again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as enduring uptake rises, item volume keeps climbing while the number of new agreements falls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4956048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5604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consequence: never price per agreement. Success at enduring enrolment would cut your own revenue.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4956048"/>
            <a:ext cx="5852160" cy="914400"/>
          </a:xfrm>
          <a:prstGeom prst="roundRect">
            <a:avLst>
              <a:gd name="adj" fmla="val 10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65392" y="495604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2026 item counts are arithmetic on published service volumes and bulk-billing rates. 2030 general practice is the stated policy target; other segments grown at population rate. Modelled, not measured.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from: Medicare statistics 2024-25 (358m bulk-billed items); AIHW 2024-25; Productivity Commission RoGS 2026; Optometry Australia workforce projections.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 a practice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from published advisory estimates — to be measured, not asserted.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88366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68096" y="239572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bulk-billed patients a 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73552" y="2249424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19856" y="173736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88366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39312" y="239572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respond to an SMS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4768" y="2249424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1072" y="173736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188366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9–12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10528" y="239572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calls every 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15984" y="2249424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62288" y="173736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1744" y="188366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30–45 min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81744" y="239572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reconciliation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429000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annual figure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" y="3959352"/>
            <a:ext cx="5010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$4,000–$5,000 per FTE GP in year one, and roughly $1,750 per FTE GP a year thereafter. Nearly all of it is chase labour — and chase labour exists only because capture happens after the patient has left.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3246120"/>
            <a:ext cx="5852160" cy="1417320"/>
          </a:xfrm>
          <a:prstGeom prst="roundRect">
            <a:avLst>
              <a:gd name="adj" fmla="val 645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3429000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interaction that sharpens 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47104" y="3959352"/>
            <a:ext cx="5376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incentive loading is paid only where the practice bulk bills every eligible patient. An unsigned agreement is not a delayed item under a one-year lodgement window — it is a lost 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901184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901184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before the patient leaves and 9–12 chases a day becomes 1–2. Enduring agreements remove the capture event entirely.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Modelled, not audited. Instrument the design-partner practice before any return figure goes into writing.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incumbents have not closed this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shipped one channel and inherited its failure mode.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2834640" cy="4343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66420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83280" y="1664208"/>
            <a:ext cx="1554480" cy="4343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11296" y="166420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37760" y="1664208"/>
            <a:ext cx="1828800" cy="4343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65776" y="166420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MedicalDirector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66560" y="1664208"/>
            <a:ext cx="2103120" cy="4343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94576" y="166420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HotDoc / HealthEngine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69680" y="1664208"/>
            <a:ext cx="1737360" cy="4343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97696" y="166420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Cliniko / allied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607040" y="1664208"/>
            <a:ext cx="1005840" cy="4343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35056" y="166420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AoBPlatform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098548"/>
            <a:ext cx="28346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209854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capture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2098548"/>
            <a:ext cx="15544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11296" y="209854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2098548"/>
            <a:ext cx="182880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65776" y="209854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disclosure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2098548"/>
            <a:ext cx="210312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4576" y="209854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69680" y="2098548"/>
            <a:ext cx="173736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97696" y="209854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capture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607040" y="209854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35056" y="209854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2532888"/>
            <a:ext cx="283464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253288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or kiosk at the desk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83280" y="2532888"/>
            <a:ext cx="155448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253288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2532888"/>
            <a:ext cx="182880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65776" y="253288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66560" y="2532888"/>
            <a:ext cx="210312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4576" y="253288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69680" y="2532888"/>
            <a:ext cx="173736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97696" y="253288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607040" y="253288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35056" y="253288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2967228"/>
            <a:ext cx="28346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" y="296722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channel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383280" y="2967228"/>
            <a:ext cx="15544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11296" y="296722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937760" y="2967228"/>
            <a:ext cx="182880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65776" y="296722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766560" y="2967228"/>
            <a:ext cx="210312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296722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869680" y="2967228"/>
            <a:ext cx="173736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97696" y="296722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607040" y="296722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35056" y="296722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3401568"/>
            <a:ext cx="283464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" y="340156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agreements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383280" y="3401568"/>
            <a:ext cx="155448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11296" y="340156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937760" y="3401568"/>
            <a:ext cx="182880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65776" y="340156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investigation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766560" y="3401568"/>
            <a:ext cx="210312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340156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869680" y="3401568"/>
            <a:ext cx="173736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97696" y="340156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0607040" y="340156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735056" y="340156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48640" y="3835908"/>
            <a:ext cx="28346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6656" y="383590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notice engine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383280" y="3835908"/>
            <a:ext cx="15544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11296" y="383590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937760" y="3835908"/>
            <a:ext cx="182880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65776" y="383590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766560" y="3835908"/>
            <a:ext cx="210312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94576" y="383590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869680" y="3835908"/>
            <a:ext cx="173736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97696" y="383590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10607040" y="383590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735056" y="383590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48640" y="4270248"/>
            <a:ext cx="283464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6656" y="427024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Anniversary tracking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3383280" y="4270248"/>
            <a:ext cx="155448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511296" y="427024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937760" y="4270248"/>
            <a:ext cx="182880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65776" y="427024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6766560" y="4270248"/>
            <a:ext cx="210312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94576" y="427024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8869680" y="4270248"/>
            <a:ext cx="173736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997696" y="427024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10607040" y="427024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735056" y="427024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548640" y="4704588"/>
            <a:ext cx="283464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6656" y="470458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+ termination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3383280" y="4704588"/>
            <a:ext cx="15544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511296" y="470458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4937760" y="4704588"/>
            <a:ext cx="182880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065776" y="470458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6766560" y="4704588"/>
            <a:ext cx="210312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94576" y="470458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8869680" y="4704588"/>
            <a:ext cx="173736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997696" y="470458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10607040" y="470458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735056" y="470458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548640" y="5138928"/>
            <a:ext cx="283464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76656" y="5138928"/>
            <a:ext cx="25786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 but English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3383280" y="5138928"/>
            <a:ext cx="155448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511296" y="5138928"/>
            <a:ext cx="12984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4937760" y="5138928"/>
            <a:ext cx="182880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065776" y="5138928"/>
            <a:ext cx="15727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6766560" y="5138928"/>
            <a:ext cx="210312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894576" y="5138928"/>
            <a:ext cx="18470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8869680" y="5138928"/>
            <a:ext cx="1737360" cy="4343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997696" y="5138928"/>
            <a:ext cx="1481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10607040" y="5138928"/>
            <a:ext cx="1005840" cy="4343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735056" y="5138928"/>
            <a:ext cx="7498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12" name="Text 110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two biggest distributors bundle their version at zero marginal cost — so the product has to carry value they do not, not undercut them on price.</a:t>
            </a:r>
            <a:endParaRPr lang="en-US" sz="1150" dirty="0"/>
          </a:p>
        </p:txBody>
      </p:sp>
      <p:sp>
        <p:nvSpPr>
          <p:cNvPr id="113" name="Text 111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positions as published to August 2026. "—" means nothing found either way.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wedge, and the window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on a dated compliance obligation. Stay on the record it produces.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87452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where nobody 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404872"/>
            <a:ext cx="4965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Medtech, Genie/Gentu, Clinic to Cloud, Shexie, and the allied stack. Our design partner is a Medtech practice with no path and no announced plan from its vendor.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1892808"/>
            <a:ext cx="384048" cy="384048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85432" y="187452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on capture position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9944" y="2404872"/>
            <a:ext cx="4965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In-practice tablet and kiosk, not another SMS link. The Department names check-in kiosks explicitly; no vendor has shipped one.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675888"/>
            <a:ext cx="384048" cy="384048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365760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segments that never get relief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4187952"/>
            <a:ext cx="4965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is general practice only. Specialists, allied health and optometry face permanent per-item capture — and the 6-month plan agreement is the only lever they have.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474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3675888"/>
            <a:ext cx="384048" cy="38404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21" name="Text 19"/>
          <p:cNvSpPr/>
          <p:nvPr/>
        </p:nvSpPr>
        <p:spPr>
          <a:xfrm>
            <a:off x="6391656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85432" y="365760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on the record, not the form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9944" y="4187952"/>
            <a:ext cx="4965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is free and uncertifiable. The asset is the verified, retained, audited record of who consented to what, with whom, and whether it is still live.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321808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DF6E9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321808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runs from now to mid-2027. After the verbal fallback closes, the majors will have caught up and the urgency is gone.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gains, and what they gain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beneficiaries. Only one of them pays — but the other two decide whether it lasts.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51129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83664"/>
            <a:ext cx="365760" cy="36576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432304"/>
            <a:ext cx="2999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calls fall from 9–12 a day toward 1–2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reconciliation under five minutes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that would have gone unbilled are billed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export answers an audit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enrolment removes the capture event entirely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held for the full two years, retrievable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9392" y="1664208"/>
            <a:ext cx="351129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17136" y="1883664"/>
            <a:ext cx="365760" cy="365760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10" name="Text 8"/>
          <p:cNvSpPr/>
          <p:nvPr/>
        </p:nvSpPr>
        <p:spPr>
          <a:xfrm>
            <a:off x="4992624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and assignor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35424" y="2432304"/>
            <a:ext cx="2999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once at the desk, not chased days later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document in their own language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online, downloadable any time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to end an enduring agreement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verify a message is genuine, not a scam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Carers and families can act properly and traceably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10144" y="1664208"/>
            <a:ext cx="351129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6B4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1883664"/>
            <a:ext cx="365760" cy="365760"/>
          </a:xfrm>
          <a:prstGeom prst="ellipse">
            <a:avLst/>
          </a:prstGeom>
          <a:solidFill>
            <a:srgbClr val="6B4A7A"/>
          </a:solidFill>
          <a:ln/>
        </p:spPr>
      </p:sp>
      <p:sp>
        <p:nvSpPr>
          <p:cNvPr id="14" name="Text 12"/>
          <p:cNvSpPr/>
          <p:nvPr/>
        </p:nvSpPr>
        <p:spPr>
          <a:xfrm>
            <a:off x="8723376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66176" y="2432304"/>
            <a:ext cx="2999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that is verifiable rather than asserted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invalid items reaching assessment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lifecycle visible, not decaying silently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patients keep access to bulk billing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authority over financial decisions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workable answer for aged care attendance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102352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column is why this survives past 2027. A product that only saves a practice money is a feature; one that also protects patients and makes the scheme work is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earns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against labour removed, not against a bundled form.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7452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404872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practitioner per month, tiered by site count. The core capture, validation, storage and audit capability.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9856" y="1691640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87452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campaigns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2404872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completed enduring agreement. A ten-GP practice converting 2,000 registered patients is a substantial one-off, and every agreement deepens the hold.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91072" y="1691640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87452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follow-up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28816" y="2404872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reconciliation burden lifted entirely — AI-led, human-backed. Priced against staff time, which no competitor bundles.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62288" y="1691640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0032" y="187452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response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00032" y="2404872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evidence packs when Services Australia or the review body asks. Low volume, high value, at the moment the practice values you most.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0599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prices in this market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4443984"/>
            <a:ext cx="5029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Premier — about $124 a month per full-time doctor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HotDoc — from about $170 a month for two practitioners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AutoMed AoB utility — $125 + GST once-off per location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— 4c a message through Bp Comms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5852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405993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pricing argument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65392" y="4443984"/>
            <a:ext cx="5394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addressable saving is roughly $1,400 per FTE GP a year in steady state, and materially more in year one. Price against that. Two large distributors bundle a form at zero marginal cost — so compete on capture position, enduring agreements, the notice engine, language and the audit record, never on the form.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return figures modelled from published advisory estimates. Measure at the design partner before committing any number to writing.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Adjacent commercial opportunities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how close each sits to what the platform already holds.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65376"/>
            <a:ext cx="384048" cy="384048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capture and follow-up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37744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AI-led outbound reminder and assistance in the patient’s language, with a small human team for distress, confusion and safeguarding. Removes the practice’s reconciliation burden outright. Priced against labour — nobody bundles staff.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166420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865376"/>
            <a:ext cx="384048" cy="384048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92624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enrolment as a delivered project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17136" y="237744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agreements per practice, per practitioner. The practice has no capacity to run it. Priced per completed agreement.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66420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8653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23376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notice engine as a component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47888" y="237744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practice management vendors have not built enduring agreements, let alone the 24-hour notice. White-labelled, it turns incumbents from competitors into distribution.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6732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968496"/>
            <a:ext cx="384048" cy="38404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61872" y="395020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reconciliation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" y="448056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consent, billing and payment every day. Finds unclaimed items and unworked rejections as well as compliance gaps. See the next slide — this may be the strongest of the six.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9392" y="376732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3968496"/>
            <a:ext cx="384048" cy="384048"/>
          </a:xfrm>
          <a:prstGeom prst="ellipse">
            <a:avLst/>
          </a:prstGeom>
          <a:solidFill>
            <a:srgbClr val="6B4A7A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92624" y="395020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response and registration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17136" y="448056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evidence pack when the regulator asks. And once Services Australia publishes how enduring agreements are recorded, managing millions of anniversary-bound records is an offering in itself.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376732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3968496"/>
            <a:ext cx="384048" cy="384048"/>
          </a:xfrm>
          <a:prstGeom prst="ellipse">
            <a:avLst/>
          </a:prstGeom>
          <a:solidFill>
            <a:srgbClr val="B23A26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23376" y="395020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 one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47888" y="448056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consent data would be commercially interesting and is patient health information. Monetising it — even de-identified — would undercut the trust the product runs on.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are closest to revenue and rely on nothing that has not already been designed.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of them — three-way reconciliation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ledgers exist. Nobody compares all three, because nobody has held the consent one before.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922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21762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AoBPlatform — who agreed to what, with whom, and whether it is still live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7408" y="164592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7922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5152" y="21762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management system — what was claimed, for whom, by which practitioner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66176" y="164592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6B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7922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0" y="21762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Australia — what was assessed, what was paid, what was rejected and why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21868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finds that is worth money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3749040"/>
            <a:ext cx="50109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signed but never claimed. Rejections nobody worked. Claims approaching the twelve-month cliff, ranked by days left. Lines paid at less than claimed. Bulk billing incentives missed. And the practice loading put at risk by a handful of privately billed items — the 12.5% requires every GP to bulk bill 100% of eligible services.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3035808"/>
            <a:ext cx="5852160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3218688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finds that avoids trouble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47104" y="3749040"/>
            <a:ext cx="53766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lodged with no valid agreement. Claims against an agreement that had already ceased. Agreements naming a different practitioner than the one who delivered the item. Enduring claims with no 24-hour notice dispatched. Retention gaps. Every one of these is invisible to the practice today.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102352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DF6E9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102352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 motion: run it over the practice’s last twelve months at signup, before they have paid anything. That retrospective is the demonstration, the business case and the price justification in one artefact.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the engine never suggests a higher-value item. It reports what was consented and what was claimed. The same engine pointed the other way is an upcoding assistant.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risks, and what we do about them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one has already happened to somebody else.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274320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1664208"/>
            <a:ext cx="384048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664208"/>
            <a:ext cx="448056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66420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whipsaw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38144" y="166420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twice, reversed once eight working days before commencement.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78624" y="1664208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the rule set and the service-description mapping. Never build deeply against unpublished specification. Treat every conformance position as dated.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2743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450592"/>
            <a:ext cx="38404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2450592"/>
            <a:ext cx="44805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45059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bundle it free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38144" y="2450592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HotDoc and HealthEngine include capture at no extra charge across 10,000–20,000 practices.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78624" y="2450592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compete on the form. Compete on capture position, enduring, the notice engine, language, and the audit record — none of which they offer.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274320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3236976"/>
            <a:ext cx="384048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236976"/>
            <a:ext cx="448056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236976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hard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38144" y="3236976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buy from their existing vendor, not from point solutions.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78624" y="3236976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through the segments with no path at all, with a design-partner practice, and integrate rather than displace.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2743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4023360"/>
            <a:ext cx="38404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023360"/>
            <a:ext cx="44805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402336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feature absorbed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38144" y="402336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is easy to copy once the majors finish.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78624" y="402336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on the compliance record and the managed offering, not the capture screen.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809744"/>
            <a:ext cx="274320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4809744"/>
            <a:ext cx="384048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4809744"/>
            <a:ext cx="448056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" y="480974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2027 urgency expires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38144" y="4809744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verbal fallback closes the pitch loses its deadline.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78624" y="4809744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wedge into the broader consent and compliance record before mid-2027.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is deliberately short. These five decide the outcome; the rest are execution.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4572000" cy="4572000"/>
          </a:xfrm>
          <a:prstGeom prst="ellipse">
            <a:avLst/>
          </a:prstGeom>
          <a:solidFill>
            <a:srgbClr val="1450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to happen next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these cost nothing and decide whether the rest is worth building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389888"/>
          </a:xfrm>
          <a:prstGeom prst="roundRect">
            <a:avLst>
              <a:gd name="adj" fmla="val 6579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185416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167128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write-back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79192"/>
            <a:ext cx="4928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signed agreement can land in the Medtech patient record. Without it this is a form, not a compliance product. Everything else waits.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440680" cy="1389888"/>
          </a:xfrm>
          <a:prstGeom prst="roundRect">
            <a:avLst>
              <a:gd name="adj" fmla="val 6579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2185416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9944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167128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open questions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28232" y="2679192"/>
            <a:ext cx="4928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enduring agreements are recorded with Services Australia. Whether a non-English agreement satisfies the requirement. What the conformance process actually covers.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38728"/>
            <a:ext cx="5440680" cy="1389888"/>
          </a:xfrm>
          <a:prstGeom prst="roundRect">
            <a:avLst>
              <a:gd name="adj" fmla="val 6579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758184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739896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fifteen practice managers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4251960"/>
            <a:ext cx="4928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Medtech, Genie/Gentu and the allied systems. Confirm they have no path and know it. That is the whole thesis in one set of conversations.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538728"/>
            <a:ext cx="5440680" cy="1389888"/>
          </a:xfrm>
          <a:prstGeom prst="roundRect">
            <a:avLst>
              <a:gd name="adj" fmla="val 6579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3758184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9944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3739896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then price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28232" y="4251960"/>
            <a:ext cx="4928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design partner. No return figure goes into writing until it has been observed.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1937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organisation in the Health Systems Developer Portal now — it is free, commits to nothing, and establishes the relationship before it is needed.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12648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Health Insurance Regulations 2018 Div 7A; F2025L00983; F2026L00824; DoHDA FAQ 16 July 2026; RACGP Health of the Nation 2025; AIHW; Productivity Commission RoGS 2026.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AoBPlatform — Business Case</dc:title>
  <dc:subject>PptxGenJS Presentation</dc:subject>
  <dc:creator>AoBPlatform</dc:creator>
  <cp:lastModifiedBy>AoBPlatform</cp:lastModifiedBy>
  <cp:revision>1</cp:revision>
  <dcterms:created xsi:type="dcterms:W3CDTF">2026-08-20T02:50:19Z</dcterms:created>
  <dcterms:modified xsi:type="dcterms:W3CDTF">2026-08-20T02:50:19Z</dcterms:modified>
</cp:coreProperties>
</file>