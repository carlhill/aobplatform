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 (current)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5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General practice</c:v>
                  </c:pt>
                  <c:pt idx="1">
                    <c:v>Pathology and imaging</c:v>
                  </c:pt>
                  <c:pt idx="2">
                    <c:v>Allied health</c:v>
                  </c:pt>
                  <c:pt idx="3">
                    <c:v>Specialists</c:v>
                  </c:pt>
                  <c:pt idx="4">
                    <c:v>Optometry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135</c:v>
                </c:pt>
                <c:pt idx="1">
                  <c:v>175</c:v>
                </c:pt>
                <c:pt idx="2">
                  <c:v>28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2030 (projected)</c:v>
                </c:pt>
              </c:strCache>
            </c:strRef>
          </c:tx>
          <c:spPr>
            <a:solidFill>
              <a:srgbClr val="C97B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54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General practice</c:v>
                  </c:pt>
                  <c:pt idx="1">
                    <c:v>Pathology and imaging</c:v>
                  </c:pt>
                  <c:pt idx="2">
                    <c:v>Allied health</c:v>
                  </c:pt>
                  <c:pt idx="3">
                    <c:v>Specialists</c:v>
                  </c:pt>
                  <c:pt idx="4">
                    <c:v>Optometry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150</c:v>
                </c:pt>
                <c:pt idx="1">
                  <c:v>186</c:v>
                </c:pt>
                <c:pt idx="2">
                  <c:v>31</c:v>
                </c:pt>
                <c:pt idx="3">
                  <c:v>11</c:v>
                </c:pt>
                <c:pt idx="4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54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54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B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A6B72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A6B72"/>
                    </a:solidFill>
                    <a:latin typeface="Arial"/>
                  </a:rPr>
                  <a:t>Bulk-billed items per year (millions)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case deck. Companion to the industry workflows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554480"/>
            <a:ext cx="5303520" cy="5303520"/>
          </a:xfrm>
          <a:prstGeom prst="ellipse">
            <a:avLst/>
          </a:prstGeom>
          <a:solidFill>
            <a:srgbClr val="14505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840480"/>
            <a:ext cx="3474720" cy="3474720"/>
          </a:xfrm>
          <a:prstGeom prst="ellipse">
            <a:avLst/>
          </a:prstGeom>
          <a:solidFill>
            <a:srgbClr val="134A5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916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AoBPlatform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57860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8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case, benefits and adjacent opportunities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318211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AE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consent and compliance record for Medicare bulk billing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9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statutory obligation with a deadline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regulation, not by preference. Non-discretionary, recurring, and dated.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00784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88366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signature, no payment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414016"/>
            <a:ext cx="29260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bulk-billed item without a valid agreement cannot be claimed. Since September 2025 the lodgement window is one year, not five — a delayed agreement is a lost item.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07408" y="1700784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88366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fallback closes 30 June 2027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45152" y="2414016"/>
            <a:ext cx="29260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assignment ends. Every practice still relying on it becomes a buyer with a date on the calendar.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66176" y="1700784"/>
            <a:ext cx="3401568" cy="2148840"/>
          </a:xfrm>
          <a:prstGeom prst="roundRect">
            <a:avLst>
              <a:gd name="adj" fmla="val 425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188366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certifies the answer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0" y="2414016"/>
            <a:ext cx="29260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Department states it "is unable to review, approve or provide assurance on assignment of benefit agreement templates" and tells providers to seek legal advice.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BEDEA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261104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guidance has moved three times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4663440"/>
            <a:ext cx="1047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twice, then materially reversed eight working days before commencement. One vendor spent roughly $1 million and had to withdraw a build already shipped to 1,500 clinics. Practices have lost confidence in their software vendors on this specific topic — which is the opening.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Regulations 2018 Div 7A; DoHDA FAQ 16 July 2026 p.11; Medical Republic, June 2026.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size of the pool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bulk-billed item needs an agreement. Volume is set by policy, and policy is pushing it up.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358m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496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Bulk-billed Medicare items a year, each requiring an assignment of benefit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29000" y="169164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~135m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429000" y="2496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practice alone — heading toward ~150m at the 90% target for 2030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09360" y="1691640"/>
            <a:ext cx="2743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84.1%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309360" y="2496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bulk billing, June 2026 quarter — up 4.9 points year on year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89720" y="1691640"/>
            <a:ext cx="2788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7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$8.5bn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189720" y="249631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package driving the increase, plus a 12.5% practice loading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064240" cy="50292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practice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154680" y="3703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7,132 accredited practices · 40,375 GPs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46520" y="37033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served — but Medtech and the Magentus stack have no path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206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Allied health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154680" y="4206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28.0m Medicare attendances a year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420624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Badly served. Cliniko has no native capture; PracSuite, Nookal, Splose, Coreplus, Zanda have published nothing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11064240" cy="50292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Optometry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154680" y="4709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~7,400 optometrists · &gt;11m items · ~94% bulk billed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46520" y="470916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bulk-billing rate of any segment. Nothing found from any vendor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1064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5212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154680" y="5212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35.6m referred attendances · 28–37% bulk billed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46520" y="52120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Magentus admits its release does not store the signed agreement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RACGP Health of the Nation 2025; AIHW 2024-25; Productivity Commission RoGS 2026; Medicare statistics 2024-25.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Bulk-billed items requiring an assignment, by segment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counts ITEMS, not agreements. The two numbers are very different — see the panel on the right.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67512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645920"/>
            <a:ext cx="4663440" cy="3154680"/>
          </a:xfrm>
          <a:prstGeom prst="roundRect">
            <a:avLst>
              <a:gd name="adj" fmla="val 2899"/>
            </a:avLst>
          </a:prstGeom>
          <a:solidFill>
            <a:srgbClr val="FBEDEA"/>
          </a:solidFill>
          <a:ln w="19050">
            <a:solidFill>
              <a:srgbClr val="B23A2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54112" y="17739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are not agreements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54112" y="215798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collapse the item count into a much smaller agreement count: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54112" y="2523744"/>
            <a:ext cx="4206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agreement covers one practitioner, one patient, one day — so several items in a single visit share a single agreement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enduring agreement covers all future in-scope items for that practitioner, indefinitely. It is signed once and never again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as enduring uptake rises, item volume keeps climbing while the number of new agreements falls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4956048"/>
            <a:ext cx="5486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95604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consequence: never price per agreement. Success at enduring enrolment would cut your own revenue.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4956048"/>
            <a:ext cx="5852160" cy="914400"/>
          </a:xfrm>
          <a:prstGeom prst="roundRect">
            <a:avLst>
              <a:gd name="adj" fmla="val 10000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65392" y="4956048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2026 item counts are arithmetic on published service volumes and bulk-billing rates. 2030 general practice is the stated policy target; other segments grown at population rate. Modelled, not measured.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from: Medicare statistics 2024-25 (358m bulk-billed items); AIHW 2024-25; Productivity Commission RoGS 2026; Optometry Australia workforce projections.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 a practice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from published advisory estimates — to be measured, not asserted.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15184" cy="1234440"/>
          </a:xfrm>
          <a:prstGeom prst="roundRect">
            <a:avLst>
              <a:gd name="adj" fmla="val 7407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88366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68096" y="239572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bulk-billed patients a 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73552" y="2249424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19856" y="1737360"/>
            <a:ext cx="2615184" cy="1234440"/>
          </a:xfrm>
          <a:prstGeom prst="roundRect">
            <a:avLst>
              <a:gd name="adj" fmla="val 7407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9312" y="188366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39312" y="239572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respond to an SMS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44768" y="2249424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91072" y="1737360"/>
            <a:ext cx="2615184" cy="1234440"/>
          </a:xfrm>
          <a:prstGeom prst="roundRect">
            <a:avLst>
              <a:gd name="adj" fmla="val 7407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188366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9–12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10528" y="239572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calls every day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15984" y="2249424"/>
            <a:ext cx="274320" cy="219456"/>
          </a:xfrm>
          <a:prstGeom prst="rightArrow">
            <a:avLst/>
          </a:prstGeom>
          <a:solidFill>
            <a:srgbClr val="C3D3D9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62288" y="1737360"/>
            <a:ext cx="2615184" cy="1234440"/>
          </a:xfrm>
          <a:prstGeom prst="roundRect">
            <a:avLst>
              <a:gd name="adj" fmla="val 7407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81744" y="188366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30–45 min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81744" y="239572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reconciliation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429000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annual figure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384" y="3959352"/>
            <a:ext cx="50109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$4,000–$5,000 per FTE GP in year one, and roughly $1,750 per FTE GP a year thereafter. Nearly all of it is chase labour — and chase labour exists only because capture happens after the patient has left.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3246120"/>
            <a:ext cx="5852160" cy="1417320"/>
          </a:xfrm>
          <a:prstGeom prst="roundRect">
            <a:avLst>
              <a:gd name="adj" fmla="val 645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3429000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interaction that sharpens 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47104" y="3959352"/>
            <a:ext cx="537667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incentive loading is paid only where the practice bulk bills every eligible patient. An unsigned agreement is not a delayed item under a one-year lodgement window — it is a lost one.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901184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901184"/>
            <a:ext cx="10479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before the patient leaves and 9–12 chases a day becomes 1–2. Enduring agreements remove the capture event entirely.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Modelled, not audited. Instrument the design-partner practice before any return figure goes into writing.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incumbents have not closed this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shipped one channel and inherited its failure mode.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9344"/>
            <a:ext cx="2697480" cy="320040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09344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46120" y="1609344"/>
            <a:ext cx="1325880" cy="320040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55848" y="160934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1609344"/>
            <a:ext cx="1508760" cy="320040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1609344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MedicalDirector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80760" y="1609344"/>
            <a:ext cx="1234440" cy="320040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0488" y="1609344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HotDoc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0" y="1609344"/>
            <a:ext cx="1325880" cy="320040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24928" y="160934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641080" y="1609344"/>
            <a:ext cx="1188720" cy="320040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50808" y="1609344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Cubiko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829800" y="1609344"/>
            <a:ext cx="1783080" cy="320040"/>
          </a:xfrm>
          <a:prstGeom prst="rect">
            <a:avLst/>
          </a:prstGeom>
          <a:solidFill>
            <a:srgbClr val="0B3C49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39528" y="1609344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AoBPlatform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1929384"/>
            <a:ext cx="26974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929384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AoB capture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1929384"/>
            <a:ext cx="13258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192938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1929384"/>
            <a:ext cx="15087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1929384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disclosure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1929384"/>
            <a:ext cx="12344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0488" y="1929384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15200" y="1929384"/>
            <a:ext cx="13258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24928" y="192938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DB4(e)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641080" y="1929384"/>
            <a:ext cx="11887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50808" y="1929384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monitors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829800" y="1929384"/>
            <a:ext cx="1783080" cy="3200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39528" y="1929384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2249424"/>
            <a:ext cx="269748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2249424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/ kiosk at the desk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46120" y="2249424"/>
            <a:ext cx="132588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55848" y="224942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0" y="2249424"/>
            <a:ext cx="150876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2249424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80760" y="2249424"/>
            <a:ext cx="123444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0488" y="2249424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15200" y="2249424"/>
            <a:ext cx="132588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24928" y="224942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Kiosk, not AoB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641080" y="2249424"/>
            <a:ext cx="118872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50808" y="2249424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829800" y="2249424"/>
            <a:ext cx="1783080" cy="3200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39528" y="2249424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2569464"/>
            <a:ext cx="26974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" y="2569464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channel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46120" y="2569464"/>
            <a:ext cx="13258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55848" y="256946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0" y="2569464"/>
            <a:ext cx="15087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81728" y="2569464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080760" y="2569464"/>
            <a:ext cx="12344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90488" y="2569464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315200" y="2569464"/>
            <a:ext cx="13258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24928" y="256946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641080" y="2569464"/>
            <a:ext cx="11887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750808" y="2569464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829800" y="2569464"/>
            <a:ext cx="1783080" cy="3200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939528" y="2569464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48640" y="2889504"/>
            <a:ext cx="269748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" y="2889504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 (RACGP 3-pt)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246120" y="2889504"/>
            <a:ext cx="132588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55848" y="288950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0" y="2889504"/>
            <a:ext cx="150876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81728" y="2889504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080760" y="2889504"/>
            <a:ext cx="123444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90488" y="2889504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315200" y="2889504"/>
            <a:ext cx="132588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24928" y="288950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641080" y="2889504"/>
            <a:ext cx="118872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750808" y="2889504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9829800" y="2889504"/>
            <a:ext cx="1783080" cy="3200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939528" y="2889504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48640" y="3209544"/>
            <a:ext cx="26974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8368" y="3209544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65C element check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246120" y="3209544"/>
            <a:ext cx="13258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55848" y="320954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572000" y="3209544"/>
            <a:ext cx="15087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681728" y="3209544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6080760" y="3209544"/>
            <a:ext cx="12344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90488" y="3209544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7315200" y="3209544"/>
            <a:ext cx="13258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24928" y="320954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8641080" y="3209544"/>
            <a:ext cx="11887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750808" y="3209544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9829800" y="3209544"/>
            <a:ext cx="1783080" cy="3200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939528" y="3209544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548640" y="3529584"/>
            <a:ext cx="269748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58368" y="3529584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Enduring lifecycle + anniversary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3246120" y="3529584"/>
            <a:ext cx="132588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355848" y="352958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(basic)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4572000" y="3529584"/>
            <a:ext cx="150876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681728" y="3529584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6080760" y="3529584"/>
            <a:ext cx="123444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190488" y="3529584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7315200" y="3529584"/>
            <a:ext cx="132588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424928" y="352958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8641080" y="3529584"/>
            <a:ext cx="118872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750808" y="3529584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9829800" y="3529584"/>
            <a:ext cx="1783080" cy="3200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939528" y="3529584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548640" y="3849624"/>
            <a:ext cx="26974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58368" y="3849624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(89AA) notice engine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3246120" y="3849624"/>
            <a:ext cx="13258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355848" y="384962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4572000" y="3849624"/>
            <a:ext cx="15087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681728" y="3849624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6080760" y="3849624"/>
            <a:ext cx="12344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190488" y="3849624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7315200" y="3849624"/>
            <a:ext cx="13258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424928" y="384962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8641080" y="3849624"/>
            <a:ext cx="11887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750808" y="3849624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9829800" y="3849624"/>
            <a:ext cx="1783080" cy="3200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9939528" y="3849624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548640" y="4169664"/>
            <a:ext cx="269748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58368" y="4169664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 + self-termination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3246120" y="4169664"/>
            <a:ext cx="132588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355848" y="416966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4572000" y="4169664"/>
            <a:ext cx="150876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681728" y="4169664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6080760" y="4169664"/>
            <a:ext cx="123444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190488" y="4169664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7315200" y="4169664"/>
            <a:ext cx="132588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424928" y="416966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8641080" y="4169664"/>
            <a:ext cx="118872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750808" y="4169664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9829800" y="4169664"/>
            <a:ext cx="1783080" cy="3200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939528" y="4169664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548640" y="4489704"/>
            <a:ext cx="26974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58368" y="4489704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agreements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3246120" y="4489704"/>
            <a:ext cx="13258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355848" y="448970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4572000" y="4489704"/>
            <a:ext cx="15087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681728" y="4489704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6080760" y="4489704"/>
            <a:ext cx="12344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6190488" y="4489704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7315200" y="4489704"/>
            <a:ext cx="13258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7424928" y="448970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only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8641080" y="4489704"/>
            <a:ext cx="11887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8750808" y="4489704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42" name="Shape 140"/>
          <p:cNvSpPr/>
          <p:nvPr/>
        </p:nvSpPr>
        <p:spPr>
          <a:xfrm>
            <a:off x="9829800" y="4489704"/>
            <a:ext cx="1783080" cy="3200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9939528" y="4489704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548640" y="4809744"/>
            <a:ext cx="269748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58368" y="4809744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Non-repudiable evidence vault</a:t>
            </a:r>
            <a:endParaRPr lang="en-US" sz="950" dirty="0"/>
          </a:p>
        </p:txBody>
      </p:sp>
      <p:sp>
        <p:nvSpPr>
          <p:cNvPr id="146" name="Shape 144"/>
          <p:cNvSpPr/>
          <p:nvPr/>
        </p:nvSpPr>
        <p:spPr>
          <a:xfrm>
            <a:off x="3246120" y="4809744"/>
            <a:ext cx="132588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3355848" y="480974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48" name="Shape 146"/>
          <p:cNvSpPr/>
          <p:nvPr/>
        </p:nvSpPr>
        <p:spPr>
          <a:xfrm>
            <a:off x="4572000" y="4809744"/>
            <a:ext cx="150876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681728" y="4809744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50" name="Shape 148"/>
          <p:cNvSpPr/>
          <p:nvPr/>
        </p:nvSpPr>
        <p:spPr>
          <a:xfrm>
            <a:off x="6080760" y="4809744"/>
            <a:ext cx="123444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190488" y="4809744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52" name="Shape 150"/>
          <p:cNvSpPr/>
          <p:nvPr/>
        </p:nvSpPr>
        <p:spPr>
          <a:xfrm>
            <a:off x="7315200" y="4809744"/>
            <a:ext cx="132588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7424928" y="480974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54" name="Shape 152"/>
          <p:cNvSpPr/>
          <p:nvPr/>
        </p:nvSpPr>
        <p:spPr>
          <a:xfrm>
            <a:off x="8641080" y="4809744"/>
            <a:ext cx="118872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8750808" y="4809744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56" name="Shape 154"/>
          <p:cNvSpPr/>
          <p:nvPr/>
        </p:nvSpPr>
        <p:spPr>
          <a:xfrm>
            <a:off x="9829800" y="4809744"/>
            <a:ext cx="1783080" cy="3200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9939528" y="4809744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158" name="Shape 156"/>
          <p:cNvSpPr/>
          <p:nvPr/>
        </p:nvSpPr>
        <p:spPr>
          <a:xfrm>
            <a:off x="548640" y="5129784"/>
            <a:ext cx="26974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58368" y="5129784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Pending-AoB monitoring &amp; metrics</a:t>
            </a:r>
            <a:endParaRPr lang="en-US" sz="950" dirty="0"/>
          </a:p>
        </p:txBody>
      </p:sp>
      <p:sp>
        <p:nvSpPr>
          <p:cNvPr id="160" name="Shape 158"/>
          <p:cNvSpPr/>
          <p:nvPr/>
        </p:nvSpPr>
        <p:spPr>
          <a:xfrm>
            <a:off x="3246120" y="5129784"/>
            <a:ext cx="13258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3355848" y="512978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62" name="Shape 160"/>
          <p:cNvSpPr/>
          <p:nvPr/>
        </p:nvSpPr>
        <p:spPr>
          <a:xfrm>
            <a:off x="4572000" y="5129784"/>
            <a:ext cx="15087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681728" y="5129784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64" name="Shape 162"/>
          <p:cNvSpPr/>
          <p:nvPr/>
        </p:nvSpPr>
        <p:spPr>
          <a:xfrm>
            <a:off x="6080760" y="5129784"/>
            <a:ext cx="12344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190488" y="5129784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66" name="Shape 164"/>
          <p:cNvSpPr/>
          <p:nvPr/>
        </p:nvSpPr>
        <p:spPr>
          <a:xfrm>
            <a:off x="7315200" y="5129784"/>
            <a:ext cx="132588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7424928" y="512978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168" name="Shape 166"/>
          <p:cNvSpPr/>
          <p:nvPr/>
        </p:nvSpPr>
        <p:spPr>
          <a:xfrm>
            <a:off x="8641080" y="5129784"/>
            <a:ext cx="118872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8750808" y="5129784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170" name="Shape 168"/>
          <p:cNvSpPr/>
          <p:nvPr/>
        </p:nvSpPr>
        <p:spPr>
          <a:xfrm>
            <a:off x="9829800" y="5129784"/>
            <a:ext cx="1783080" cy="3200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9939528" y="5129784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172" name="Shape 170"/>
          <p:cNvSpPr/>
          <p:nvPr/>
        </p:nvSpPr>
        <p:spPr>
          <a:xfrm>
            <a:off x="548640" y="5449824"/>
            <a:ext cx="269748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658368" y="5449824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 / Magentus / allied</a:t>
            </a:r>
            <a:endParaRPr lang="en-US" sz="950" dirty="0"/>
          </a:p>
        </p:txBody>
      </p:sp>
      <p:sp>
        <p:nvSpPr>
          <p:cNvPr id="174" name="Shape 172"/>
          <p:cNvSpPr/>
          <p:nvPr/>
        </p:nvSpPr>
        <p:spPr>
          <a:xfrm>
            <a:off x="3246120" y="5449824"/>
            <a:ext cx="132588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3355848" y="544982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176" name="Shape 174"/>
          <p:cNvSpPr/>
          <p:nvPr/>
        </p:nvSpPr>
        <p:spPr>
          <a:xfrm>
            <a:off x="4572000" y="5449824"/>
            <a:ext cx="150876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681728" y="5449824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178" name="Shape 176"/>
          <p:cNvSpPr/>
          <p:nvPr/>
        </p:nvSpPr>
        <p:spPr>
          <a:xfrm>
            <a:off x="6080760" y="5449824"/>
            <a:ext cx="123444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6190488" y="5449824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180" name="Shape 178"/>
          <p:cNvSpPr/>
          <p:nvPr/>
        </p:nvSpPr>
        <p:spPr>
          <a:xfrm>
            <a:off x="7315200" y="5449824"/>
            <a:ext cx="132588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7424928" y="5449824"/>
            <a:ext cx="110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182" name="Shape 180"/>
          <p:cNvSpPr/>
          <p:nvPr/>
        </p:nvSpPr>
        <p:spPr>
          <a:xfrm>
            <a:off x="8641080" y="5449824"/>
            <a:ext cx="1188720" cy="320040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8750808" y="5449824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184" name="Shape 182"/>
          <p:cNvSpPr/>
          <p:nvPr/>
        </p:nvSpPr>
        <p:spPr>
          <a:xfrm>
            <a:off x="9829800" y="5449824"/>
            <a:ext cx="1783080" cy="320040"/>
          </a:xfrm>
          <a:prstGeom prst="rect">
            <a:avLst/>
          </a:prstGeom>
          <a:solidFill>
            <a:srgbClr val="E4F0F3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9939528" y="5449824"/>
            <a:ext cx="1563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186" name="Text 184"/>
          <p:cNvSpPr/>
          <p:nvPr/>
        </p:nvSpPr>
        <p:spPr>
          <a:xfrm>
            <a:off x="548640" y="581558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Acknowledged: AutoMed sells AoB by SMS today — a $125-per-location digitised DB4(e) form. It delivers a message; it does not verify identity, check s 65C elements, run the enduring lifecycle, or keep evidence — and it reaches no Medtech, Magentus or allied practice.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two biggest distributors bundle their version at zero marginal cost — so the product must carry value they do not, not undercut them on price.</a:t>
            </a:r>
            <a:endParaRPr lang="en-US" sz="950" dirty="0"/>
          </a:p>
        </p:txBody>
      </p:sp>
      <p:sp>
        <p:nvSpPr>
          <p:cNvPr id="187" name="Text 185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positions as published to August 2026. "—" means nothing found either way. Cubiko monitors AoB completion; it does not capture consent.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wedge, and the window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on a dated compliance obligation. Stay on the record it produces.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928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87452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where nobody 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2404872"/>
            <a:ext cx="4965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Medtech, Genie/Gentu, Clinic to Cloud, Shexie, and the allied stack. Our design partner is a Medtech practice with no path and no announced plan from its vendor.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91656" y="1892808"/>
            <a:ext cx="384048" cy="384048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11" name="Text 9"/>
          <p:cNvSpPr/>
          <p:nvPr/>
        </p:nvSpPr>
        <p:spPr>
          <a:xfrm>
            <a:off x="6391656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85432" y="187452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on capture position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9944" y="2404872"/>
            <a:ext cx="4965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In-practice tablet and kiosk, not another SMS link. The Department names check-in kiosks explicitly; no vendor has shipped one.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675888"/>
            <a:ext cx="384048" cy="384048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61872" y="365760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segments that never get relief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86384" y="4187952"/>
            <a:ext cx="4965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Enduring is general practice only. Specialists, allied health and optometry face permanent per-item capture — and the 6-month plan agreement is the only lever they have.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4747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1656" y="3675888"/>
            <a:ext cx="384048" cy="384048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21" name="Text 19"/>
          <p:cNvSpPr/>
          <p:nvPr/>
        </p:nvSpPr>
        <p:spPr>
          <a:xfrm>
            <a:off x="6391656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85432" y="365760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on the record, not the form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9944" y="4187952"/>
            <a:ext cx="496519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is free and uncertifiable. The asset is the verified, retained, audited record of who consented to what, with whom, and whether it is still live.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321808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DF6E9"/>
          </a:solidFill>
          <a:ln w="19050">
            <a:solidFill>
              <a:srgbClr val="C97B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321808"/>
            <a:ext cx="10479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runs from now to mid-2027. After the verbal fallback closes, the majors will have caught up and the urgency is gone.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gains, and what they gain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beneficiaries. Only one of them pays — but the other two decide whether it lasts.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511296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0B3C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883664"/>
            <a:ext cx="365760" cy="36576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84708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4672" y="2432304"/>
            <a:ext cx="2999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calls fall from 9–12 a day toward 1–2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reconciliation under five minutes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that would have gone unbilled are billed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export answers an audit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Enduring enrolment removes the capture event entirely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held for the full two years, retrievable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79392" y="1664208"/>
            <a:ext cx="3511296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C97B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17136" y="1883664"/>
            <a:ext cx="365760" cy="365760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10" name="Text 8"/>
          <p:cNvSpPr/>
          <p:nvPr/>
        </p:nvSpPr>
        <p:spPr>
          <a:xfrm>
            <a:off x="4992624" y="184708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and assignor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35424" y="2432304"/>
            <a:ext cx="2999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once at the desk, not chased days later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document in their own language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online, downloadable any time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 to end an enduring agreement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verify a message is genuine, not a scam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Carers and families can act properly and traceably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10144" y="1664208"/>
            <a:ext cx="3511296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6B4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7888" y="1883664"/>
            <a:ext cx="365760" cy="365760"/>
          </a:xfrm>
          <a:prstGeom prst="ellipse">
            <a:avLst/>
          </a:prstGeom>
          <a:solidFill>
            <a:srgbClr val="6B4A7A"/>
          </a:solidFill>
          <a:ln/>
        </p:spPr>
      </p:sp>
      <p:sp>
        <p:nvSpPr>
          <p:cNvPr id="14" name="Text 12"/>
          <p:cNvSpPr/>
          <p:nvPr/>
        </p:nvSpPr>
        <p:spPr>
          <a:xfrm>
            <a:off x="8723376" y="184708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66176" y="2432304"/>
            <a:ext cx="2999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that is verifiable rather than asserted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invalid items reaching assessment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lifecycle visible, not decaying silently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patients keep access to bulk billing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authority over financial decisions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workable answer for aged care attendance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102352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102352"/>
            <a:ext cx="10479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column is why this survives past 2027. A product that only saves a practice money is a feature; one that also protects patients and makes the scheme work is infrastructure.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earns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against labour removed, not against a bundled form.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15184" cy="2011680"/>
          </a:xfrm>
          <a:prstGeom prst="roundRect">
            <a:avLst>
              <a:gd name="adj" fmla="val 454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87452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404872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practitioner per month, tiered by site count. The core capture, validation, storage and audit capability.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19856" y="1691640"/>
            <a:ext cx="2615184" cy="2011680"/>
          </a:xfrm>
          <a:prstGeom prst="roundRect">
            <a:avLst>
              <a:gd name="adj" fmla="val 454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87452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campaigns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2404872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per completed enduring agreement. A ten-GP practice converting 2,000 registered patients is a substantial one-off, and every agreement deepens the hold.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91072" y="1691640"/>
            <a:ext cx="2615184" cy="2011680"/>
          </a:xfrm>
          <a:prstGeom prst="roundRect">
            <a:avLst>
              <a:gd name="adj" fmla="val 454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187452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follow-up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28816" y="2404872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reconciliation burden lifted entirely — AI-led, human-backed. Priced against staff time, which no competitor bundles.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62288" y="1691640"/>
            <a:ext cx="2615184" cy="2011680"/>
          </a:xfrm>
          <a:prstGeom prst="roundRect">
            <a:avLst>
              <a:gd name="adj" fmla="val 4545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00032" y="187452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response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00032" y="2404872"/>
            <a:ext cx="21396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evidence packs when Services Australia or the review body asks. Low volume, high value, at the moment the practice values you most.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486400" cy="1783080"/>
          </a:xfrm>
          <a:prstGeom prst="roundRect">
            <a:avLst>
              <a:gd name="adj" fmla="val 5128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0599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prices in this market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4443984"/>
            <a:ext cx="5029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Premier — about $124 a month per full-time doctor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HotDoc — from about $170 a month for two practitioners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AutoMed AoB utility — $125 + GST once-off per location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— 4c a message through Bp Comms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3931920"/>
            <a:ext cx="58521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405993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pricing argument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65392" y="4443984"/>
            <a:ext cx="53949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addressable saving is roughly $1,400 per FTE GP a year in steady state, and materially more in year one. Price against that. Two large distributors bundle a form at zero marginal cost — so compete on capture position, enduring agreements, the notice engine, language and the audit record, never on the form.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return figures modelled from published advisory estimates. Measure at the design partner before committing any number to writing.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Adjacent commercial opportunities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how close each sits to what the platform already holds.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65376"/>
            <a:ext cx="384048" cy="384048"/>
          </a:xfrm>
          <a:prstGeom prst="ellipse">
            <a:avLst/>
          </a:prstGeom>
          <a:solidFill>
            <a:srgbClr val="3F7D5C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184708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capture and follow-up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86384" y="2377440"/>
            <a:ext cx="3035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AI-led outbound reminder and assistance in the patient’s language, with a small human team for distress, confusion and safeguarding. Removes the practice’s reconciliation burden outright. Priced against labour — nobody bundles staff.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9392" y="1664208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8848" y="1865376"/>
            <a:ext cx="384048" cy="384048"/>
          </a:xfrm>
          <a:prstGeom prst="ellipse">
            <a:avLst/>
          </a:prstGeom>
          <a:solidFill>
            <a:srgbClr val="C97B1E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92624" y="184708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Enduring enrolment as a delivered project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17136" y="2377440"/>
            <a:ext cx="3035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agreements per practice, per practitioner. The practice has no capacity to run it. Priced per completed agreement.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0144" y="1664208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8653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23376" y="184708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notice engine as a component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47888" y="2377440"/>
            <a:ext cx="3035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practice management vendors have not built enduring agreements, let alone the 24-hour notice. White-labelled, it turns incumbents from competitors into distribution.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67328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968496"/>
            <a:ext cx="384048" cy="384048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61872" y="395020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reconciliation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86384" y="4480560"/>
            <a:ext cx="3035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consent, billing and payment every day. Finds unclaimed items and unworked rejections as well as compliance gaps. See the next slide — this may be the strongest of the six.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79392" y="3767328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8848" y="3968496"/>
            <a:ext cx="384048" cy="384048"/>
          </a:xfrm>
          <a:prstGeom prst="ellipse">
            <a:avLst/>
          </a:prstGeom>
          <a:solidFill>
            <a:srgbClr val="6B4A7A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92624" y="395020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response and registration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17136" y="4480560"/>
            <a:ext cx="3035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evidence pack when the regulator asks. And once Services Australia publishes how enduring agreements are recorded, managing millions of anniversary-bound records is an offering in itself.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10144" y="3767328"/>
            <a:ext cx="3511296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3968496"/>
            <a:ext cx="384048" cy="384048"/>
          </a:xfrm>
          <a:prstGeom prst="ellipse">
            <a:avLst/>
          </a:prstGeom>
          <a:solidFill>
            <a:srgbClr val="B23A26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723376" y="3950208"/>
            <a:ext cx="2596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this one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47888" y="4480560"/>
            <a:ext cx="30358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consent data would be commercially interesting and is patient health information. Monetising it — even de-identified — would undercut the trust the product runs on.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are closest to revenue and rely on nothing that has not already been designed.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strongest of them — three-way reconciliation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ledgers exist. Nobody compares all three, because nobody has held the consent one before.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015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C97B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922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21762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AoBPlatform — who agreed to what, with whom, and whether it is still live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07408" y="1645920"/>
            <a:ext cx="34015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0B3C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7922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45152" y="21762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management system — what was claimed, for whom, by which practitioner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66176" y="1645920"/>
            <a:ext cx="3401568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6B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17922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03920" y="217627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Australia — what was assessed, what was paid, what was rejected and why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35808"/>
            <a:ext cx="5486400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218688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finds that is worth money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" y="3749040"/>
            <a:ext cx="50109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Agreements signed but never claimed. Rejections nobody worked. Claims approaching the twelve-month cliff, ranked by days left. Lines paid at less than claimed. Bulk billing incentives missed. And the practice loading put at risk by a handful of privately billed items — the 12.5% requires every GP to bulk bill 100% of eligible services.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3035808"/>
            <a:ext cx="5852160" cy="1920240"/>
          </a:xfrm>
          <a:prstGeom prst="roundRect">
            <a:avLst>
              <a:gd name="adj" fmla="val 4762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3218688"/>
            <a:ext cx="5376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finds that avoids trouble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47104" y="3749040"/>
            <a:ext cx="53766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lodged with no valid agreement. Claims against an agreement that had already ceased. Agreements naming a different practitioner than the one who delivered the item. Enduring claims with no 24-hour notice dispatched. Retention gaps. Every one of these is invisible to the practice today.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102352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DF6E9"/>
          </a:solidFill>
          <a:ln w="19050">
            <a:solidFill>
              <a:srgbClr val="C97B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102352"/>
            <a:ext cx="10479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 motion: run it over the practice’s last twelve months at signup, before they have paid anything. That retrospective is the demonstration, the business case and the price justification in one artefact.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the engine never suggests a higher-value item. It reports what was consented and what was claimed. The same engine pointed the other way is an upcoding assistant.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risks, and what we do about them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one has already happened to somebody else.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274320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1664208"/>
            <a:ext cx="384048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664208"/>
            <a:ext cx="448056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664208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whipsaw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38144" y="1664208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twice, reversed once eight working days before commencement.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78624" y="1664208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the rule set and the service-description mapping. Never build deeply against unpublished specification. Treat every conformance position as dated.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27432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450592"/>
            <a:ext cx="38404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2450592"/>
            <a:ext cx="44805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450592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bundle it free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38144" y="2450592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HotDoc and HealthEngine include capture at no extra charge across 10,000–20,000 practices.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78624" y="2450592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compete on the form. Compete on capture position, enduring, the notice engine, language, and the audit record — none of which they offer.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36976"/>
            <a:ext cx="274320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3236976"/>
            <a:ext cx="384048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3236976"/>
            <a:ext cx="448056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3236976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is hard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38144" y="3236976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buy from their existing vendor, not from point solutions.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78624" y="3236976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through the segments with no path at all, with a design-partner practice, and integrate rather than displace.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27432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4023360"/>
            <a:ext cx="384048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4023360"/>
            <a:ext cx="448056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402336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feature absorbed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38144" y="4023360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is easy to copy once the majors finish.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78624" y="402336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on the compliance record and the managed offering, not the capture screen.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809744"/>
            <a:ext cx="274320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4809744"/>
            <a:ext cx="384048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0" y="4809744"/>
            <a:ext cx="4480560" cy="786384"/>
          </a:xfrm>
          <a:prstGeom prst="rect">
            <a:avLst/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" y="4809744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3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2027 urgency expires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38144" y="4809744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verbal fallback closes the pitch loses its deadline.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78624" y="4809744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wedge into the broader consent and compliance record before mid-2027.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is deliberately short. These five decide the outcome; the rest are execution.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on a statutory deadline. Expand as the system of action. Extend as the rail. Hold the option.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645920"/>
          </a:xfrm>
          <a:prstGeom prst="roundRect">
            <a:avLst>
              <a:gd name="adj" fmla="val 555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828800"/>
            <a:ext cx="4965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wedge — compliance record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359152"/>
            <a:ext cx="4965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AoB consent: capture, verify, store, prove. Statutory, dated (30 Jun 2027), and unserved on Medtech, Magentus and all of allied health. This funds everything else.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440680" cy="1645920"/>
          </a:xfrm>
          <a:prstGeom prst="roundRect">
            <a:avLst>
              <a:gd name="adj" fmla="val 555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9944" y="1828800"/>
            <a:ext cx="4965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expansion — the admin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9944" y="2359152"/>
            <a:ext cx="4965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PMS records; it does not pursue. An AI agent completes administrative outcomes — consent chased to signed, rejection reworked to paid, recall pursued to attended — priced against the $150–250k a practice spends on admin labour. ARPU moves from ~$6k toward $30k+.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456432"/>
            <a:ext cx="5440680" cy="1645920"/>
          </a:xfrm>
          <a:prstGeom prst="roundRect">
            <a:avLst>
              <a:gd name="adj" fmla="val 555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639312"/>
            <a:ext cx="4965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extension — the consent rail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" y="4169664"/>
            <a:ext cx="4965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engine, next schemes: NDIS first ($51.5bn, 90% of claims reportedly unevidenced), then Support at Home and workers comp. Australia-wide ceiling grows from ~$50m to $200–300m ARR.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3456432"/>
            <a:ext cx="5440680" cy="1645920"/>
          </a:xfrm>
          <a:prstGeom prst="roundRect">
            <a:avLst>
              <a:gd name="adj" fmla="val 5556"/>
            </a:avLst>
          </a:prstGeom>
          <a:solidFill>
            <a:srgbClr val="EEF3F5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9944" y="3639312"/>
            <a:ext cx="4965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The option — the authority graph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9944" y="4169664"/>
            <a:ext cx="49651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verified record of who may act for whom, queryable by API. Network effects; a different company; pursued only from strength.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DF6E9"/>
          </a:solidFill>
          <a:ln w="19050">
            <a:solidFill>
              <a:srgbClr val="C97B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rules: channel-first (PMS vendors are allies against the engagement layer) · beside-then-inside (agent lands without integration; the record lives in it) · every stage gated by a measured number · upside pursued only with the profitable core’s money.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years, five phases, four gates. Each phase is funded by the one before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0" y="1572768"/>
            <a:ext cx="1332411" cy="310896"/>
          </a:xfrm>
          <a:prstGeom prst="rect">
            <a:avLst/>
          </a:prstGeom>
          <a:solidFill>
            <a:srgbClr val="0B3C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572768"/>
            <a:ext cx="1332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18411" y="1572768"/>
            <a:ext cx="1332411" cy="310896"/>
          </a:xfrm>
          <a:prstGeom prst="rect">
            <a:avLst/>
          </a:prstGeom>
          <a:solidFill>
            <a:srgbClr val="0B3C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8411" y="1572768"/>
            <a:ext cx="1332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FY28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18411" y="1883664"/>
            <a:ext cx="0" cy="3657600"/>
          </a:xfrm>
          <a:prstGeom prst="line">
            <a:avLst/>
          </a:prstGeom>
          <a:noFill/>
          <a:ln w="9525">
            <a:solidFill>
              <a:srgbClr val="E4EB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50823" y="1572768"/>
            <a:ext cx="1332411" cy="310896"/>
          </a:xfrm>
          <a:prstGeom prst="rect">
            <a:avLst/>
          </a:prstGeom>
          <a:solidFill>
            <a:srgbClr val="0B3C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0823" y="1572768"/>
            <a:ext cx="1332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FY29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50823" y="1883664"/>
            <a:ext cx="0" cy="3657600"/>
          </a:xfrm>
          <a:prstGeom prst="line">
            <a:avLst/>
          </a:prstGeom>
          <a:noFill/>
          <a:ln w="9525">
            <a:solidFill>
              <a:srgbClr val="E4EB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3234" y="1572768"/>
            <a:ext cx="1332411" cy="310896"/>
          </a:xfrm>
          <a:prstGeom prst="rect">
            <a:avLst/>
          </a:prstGeom>
          <a:solidFill>
            <a:srgbClr val="0B3C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3234" y="1572768"/>
            <a:ext cx="1332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83234" y="1883664"/>
            <a:ext cx="0" cy="3657600"/>
          </a:xfrm>
          <a:prstGeom prst="line">
            <a:avLst/>
          </a:prstGeom>
          <a:noFill/>
          <a:ln w="9525">
            <a:solidFill>
              <a:srgbClr val="E4EB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15646" y="1572768"/>
            <a:ext cx="1332411" cy="310896"/>
          </a:xfrm>
          <a:prstGeom prst="rect">
            <a:avLst/>
          </a:prstGeom>
          <a:solidFill>
            <a:srgbClr val="0B3C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15646" y="1572768"/>
            <a:ext cx="1332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15646" y="1883664"/>
            <a:ext cx="0" cy="3657600"/>
          </a:xfrm>
          <a:prstGeom prst="line">
            <a:avLst/>
          </a:prstGeom>
          <a:noFill/>
          <a:ln w="9525">
            <a:solidFill>
              <a:srgbClr val="E4EB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48057" y="1572768"/>
            <a:ext cx="1332411" cy="310896"/>
          </a:xfrm>
          <a:prstGeom prst="rect">
            <a:avLst/>
          </a:prstGeom>
          <a:solidFill>
            <a:srgbClr val="0B3C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48057" y="1572768"/>
            <a:ext cx="1332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48057" y="1883664"/>
            <a:ext cx="0" cy="3657600"/>
          </a:xfrm>
          <a:prstGeom prst="line">
            <a:avLst/>
          </a:prstGeom>
          <a:noFill/>
          <a:ln w="9525">
            <a:solidFill>
              <a:srgbClr val="E4EB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80469" y="1572768"/>
            <a:ext cx="1332411" cy="310896"/>
          </a:xfrm>
          <a:prstGeom prst="rect">
            <a:avLst/>
          </a:prstGeom>
          <a:solidFill>
            <a:srgbClr val="0B3C4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80469" y="1572768"/>
            <a:ext cx="1332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280469" y="1883664"/>
            <a:ext cx="0" cy="3657600"/>
          </a:xfrm>
          <a:prstGeom prst="line">
            <a:avLst/>
          </a:prstGeom>
          <a:noFill/>
          <a:ln w="9525">
            <a:solidFill>
              <a:srgbClr val="E4EB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1579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record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29443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agent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73075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rail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5171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&amp; beyond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0" y="2084832"/>
            <a:ext cx="1259259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95728" y="2112264"/>
            <a:ext cx="1039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· Prove wedge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95728" y="2377440"/>
            <a:ext cx="10398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AoB GA by Jun 2027 · 50+ practices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18411" y="2084832"/>
            <a:ext cx="2591671" cy="566928"/>
          </a:xfrm>
          <a:prstGeom prst="roundRect">
            <a:avLst>
              <a:gd name="adj" fmla="val 1290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28139" y="2112264"/>
            <a:ext cx="2372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Own the record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728139" y="2377440"/>
            <a:ext cx="2372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Enduring + notices · channel deals · reconciliation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18411" y="2871216"/>
            <a:ext cx="1259259" cy="566928"/>
          </a:xfrm>
          <a:prstGeom prst="roundRect">
            <a:avLst>
              <a:gd name="adj" fmla="val 12903"/>
            </a:avLst>
          </a:prstGeom>
          <a:solidFill>
            <a:srgbClr val="3F7D5C"/>
          </a:solidFill>
          <a:ln w="12700">
            <a:solidFill>
              <a:srgbClr val="3F7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28139" y="2898648"/>
            <a:ext cx="1039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follow-up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728139" y="3163824"/>
            <a:ext cx="10398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resolution measured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950823" y="2871216"/>
            <a:ext cx="2591671" cy="566928"/>
          </a:xfrm>
          <a:prstGeom prst="roundRect">
            <a:avLst>
              <a:gd name="adj" fmla="val 12903"/>
            </a:avLst>
          </a:prstGeom>
          <a:solidFill>
            <a:srgbClr val="3F7D5C"/>
          </a:solidFill>
          <a:ln w="12700">
            <a:solidFill>
              <a:srgbClr val="3F7D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60551" y="2898648"/>
            <a:ext cx="2372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Agent beta → GA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60551" y="3163824"/>
            <a:ext cx="2372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Rejections, recalls, rebooking · $2–3k/practice/mo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615646" y="2871216"/>
            <a:ext cx="3924082" cy="566928"/>
          </a:xfrm>
          <a:prstGeom prst="roundRect">
            <a:avLst>
              <a:gd name="adj" fmla="val 12903"/>
            </a:avLst>
          </a:prstGeom>
          <a:solidFill>
            <a:srgbClr val="3F7D5C"/>
          </a:solidFill>
          <a:ln w="12700">
            <a:solidFill>
              <a:srgbClr val="3F7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25374" y="2898648"/>
            <a:ext cx="37046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Agent is the product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725374" y="3163824"/>
            <a:ext cx="37046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→ $30k+ · Series A on agent metrics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950823" y="3657600"/>
            <a:ext cx="2591671" cy="566928"/>
          </a:xfrm>
          <a:prstGeom prst="roundRect">
            <a:avLst>
              <a:gd name="adj" fmla="val 12903"/>
            </a:avLst>
          </a:prstGeom>
          <a:solidFill>
            <a:srgbClr val="6B4A7A"/>
          </a:solidFill>
          <a:ln w="12700">
            <a:solidFill>
              <a:srgbClr val="6B4A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60551" y="3685032"/>
            <a:ext cx="2372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NDIS (shared engine)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60551" y="3950208"/>
            <a:ext cx="2372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logs · 90-day window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615646" y="3657600"/>
            <a:ext cx="3924082" cy="566928"/>
          </a:xfrm>
          <a:prstGeom prst="roundRect">
            <a:avLst>
              <a:gd name="adj" fmla="val 12903"/>
            </a:avLst>
          </a:prstGeom>
          <a:solidFill>
            <a:srgbClr val="6B4A7A"/>
          </a:solidFill>
          <a:ln w="12700">
            <a:solidFill>
              <a:srgbClr val="6B4A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25374" y="3685032"/>
            <a:ext cx="370462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at Home · workers comp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725374" y="3950208"/>
            <a:ext cx="37046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rail widens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18411" y="4443984"/>
            <a:ext cx="1259259" cy="566928"/>
          </a:xfrm>
          <a:prstGeom prst="roundRect">
            <a:avLst>
              <a:gd name="adj" fmla="val 12903"/>
            </a:avLst>
          </a:prstGeom>
          <a:solidFill>
            <a:srgbClr val="5A6B72"/>
          </a:solidFill>
          <a:ln w="12700">
            <a:solidFill>
              <a:srgbClr val="5A6B7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28139" y="4471416"/>
            <a:ext cx="1039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 partnership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615646" y="4443984"/>
            <a:ext cx="1259259" cy="566928"/>
          </a:xfrm>
          <a:prstGeom prst="roundRect">
            <a:avLst>
              <a:gd name="adj" fmla="val 12903"/>
            </a:avLst>
          </a:prstGeom>
          <a:solidFill>
            <a:srgbClr val="C97B1E"/>
          </a:solidFill>
          <a:ln w="12700">
            <a:solidFill>
              <a:srgbClr val="C97B1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25374" y="4471416"/>
            <a:ext cx="10398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suite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725374" y="4736592"/>
            <a:ext cx="10398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PMS vendors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948057" y="4443984"/>
            <a:ext cx="2591671" cy="566928"/>
          </a:xfrm>
          <a:prstGeom prst="roundRect">
            <a:avLst>
              <a:gd name="adj" fmla="val 12903"/>
            </a:avLst>
          </a:prstGeom>
          <a:solidFill>
            <a:srgbClr val="B23A26"/>
          </a:solidFill>
          <a:ln w="12700">
            <a:solidFill>
              <a:srgbClr val="B23A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57785" y="4471416"/>
            <a:ext cx="2372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Shape decision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057785" y="4736592"/>
            <a:ext cx="2372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with the agent, or strategic exit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536115" y="5285232"/>
            <a:ext cx="164592" cy="164592"/>
          </a:xfrm>
          <a:prstGeom prst="diamond">
            <a:avLst/>
          </a:prstGeom>
          <a:solidFill>
            <a:srgbClr val="B23A26"/>
          </a:solidFill>
          <a:ln/>
        </p:spPr>
      </p:sp>
      <p:sp>
        <p:nvSpPr>
          <p:cNvPr id="58" name="Shape 56"/>
          <p:cNvSpPr/>
          <p:nvPr/>
        </p:nvSpPr>
        <p:spPr>
          <a:xfrm>
            <a:off x="4868527" y="5285232"/>
            <a:ext cx="164592" cy="164592"/>
          </a:xfrm>
          <a:prstGeom prst="diamond">
            <a:avLst/>
          </a:prstGeom>
          <a:solidFill>
            <a:srgbClr val="B23A26"/>
          </a:solidFill>
          <a:ln/>
        </p:spPr>
      </p:sp>
      <p:sp>
        <p:nvSpPr>
          <p:cNvPr id="59" name="Shape 57"/>
          <p:cNvSpPr/>
          <p:nvPr/>
        </p:nvSpPr>
        <p:spPr>
          <a:xfrm>
            <a:off x="6200938" y="5285232"/>
            <a:ext cx="164592" cy="164592"/>
          </a:xfrm>
          <a:prstGeom prst="diamond">
            <a:avLst/>
          </a:prstGeom>
          <a:solidFill>
            <a:srgbClr val="B23A26"/>
          </a:solidFill>
          <a:ln/>
        </p:spPr>
      </p:sp>
      <p:sp>
        <p:nvSpPr>
          <p:cNvPr id="60" name="Shape 58"/>
          <p:cNvSpPr/>
          <p:nvPr/>
        </p:nvSpPr>
        <p:spPr>
          <a:xfrm>
            <a:off x="8865761" y="5285232"/>
            <a:ext cx="164592" cy="164592"/>
          </a:xfrm>
          <a:prstGeom prst="diamond">
            <a:avLst/>
          </a:prstGeom>
          <a:solidFill>
            <a:srgbClr val="B23A26"/>
          </a:solidFill>
          <a:ln/>
        </p:spPr>
      </p:sp>
      <p:sp>
        <p:nvSpPr>
          <p:cNvPr id="61" name="Text 59"/>
          <p:cNvSpPr/>
          <p:nvPr/>
        </p:nvSpPr>
        <p:spPr>
          <a:xfrm>
            <a:off x="548640" y="550468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· write-back live, 50+ practices, 75% in-practice capture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· CAC ≤ $1k via channel · AI ≥60%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· agent closes ≥70% end-to-end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· $15m+ ARR, agent fastest-growing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Money: raise ~$6.5m now · cash-flow positive FY30 · burn repaid FY32 · fallback at every gate = the profitable compliance rail.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sequence wins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42416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statutory wedge, an unowned layer, and the four assets the agent needs.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17520" cy="731520"/>
          </a:xfrm>
          <a:prstGeom prst="chevron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7373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The wedge is statutory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57860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358m agreements a year, created by regulation, with a dated deadline — 30 June 2027. </a:t>
            </a:r>
            <a:pPr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chooses whether to comply; they only choose whose product they comply with.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931920" y="170078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The expansion is the unowned layer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931920" y="2084832"/>
            <a:ext cx="1433779" cy="713232"/>
          </a:xfrm>
          <a:prstGeom prst="roundRect">
            <a:avLst>
              <a:gd name="adj" fmla="val 10256"/>
            </a:avLst>
          </a:prstGeom>
          <a:solidFill>
            <a:srgbClr val="EEF3F5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2139696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HotDoc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31920" y="2414016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bookings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93715" y="2084832"/>
            <a:ext cx="1433779" cy="713232"/>
          </a:xfrm>
          <a:prstGeom prst="roundRect">
            <a:avLst>
              <a:gd name="adj" fmla="val 10256"/>
            </a:avLst>
          </a:prstGeom>
          <a:solidFill>
            <a:srgbClr val="EEF3F5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93715" y="2139696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93715" y="2414016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check-in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055510" y="2084832"/>
            <a:ext cx="1433779" cy="713232"/>
          </a:xfrm>
          <a:prstGeom prst="roundRect">
            <a:avLst>
              <a:gd name="adj" fmla="val 10256"/>
            </a:avLst>
          </a:prstGeom>
          <a:solidFill>
            <a:srgbClr val="EEF3F5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5510" y="2139696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Cubiko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55510" y="2414016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dashboards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17306" y="2084832"/>
            <a:ext cx="1433779" cy="713232"/>
          </a:xfrm>
          <a:prstGeom prst="roundRect">
            <a:avLst>
              <a:gd name="adj" fmla="val 10256"/>
            </a:avLst>
          </a:prstGeom>
          <a:solidFill>
            <a:srgbClr val="EEF3F5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17306" y="2139696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Tyro / HICAPS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17306" y="2414016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payments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179101" y="2084832"/>
            <a:ext cx="1433779" cy="713232"/>
          </a:xfrm>
          <a:prstGeom prst="roundRect">
            <a:avLst>
              <a:gd name="adj" fmla="val 10256"/>
            </a:avLst>
          </a:prstGeom>
          <a:solidFill>
            <a:srgbClr val="EEF3F5"/>
          </a:solidFill>
          <a:ln w="12700">
            <a:solidFill>
              <a:srgbClr val="C3D3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79101" y="2139696"/>
            <a:ext cx="143377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PMS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179101" y="2414016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record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31920" y="294436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FBEDEA"/>
          </a:solidFill>
          <a:ln w="15875">
            <a:solidFill>
              <a:srgbClr val="B23A26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114800" y="294436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2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them: the human glue. Nobody owns whether the task actually finished — consent signed, rejection re-paid, recall attended. Practices pay $150–250k a year in admin labour to close that gap by hand.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616952" y="3566160"/>
            <a:ext cx="310896" cy="274320"/>
          </a:xfrm>
          <a:prstGeom prst="downArrow">
            <a:avLst/>
          </a:prstGeom>
          <a:solidFill>
            <a:srgbClr val="3F7D5C"/>
          </a:solidFill>
          <a:ln w="12700">
            <a:solidFill>
              <a:srgbClr val="3F7D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31920" y="3877056"/>
            <a:ext cx="7680960" cy="603504"/>
          </a:xfrm>
          <a:prstGeom prst="roundRect">
            <a:avLst>
              <a:gd name="adj" fmla="val 12121"/>
            </a:avLst>
          </a:prstGeom>
          <a:solidFill>
            <a:srgbClr val="3F7D5C"/>
          </a:solidFill>
          <a:ln w="12700">
            <a:solidFill>
              <a:srgbClr val="3F7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38770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AoBPlatform — the completion layer.  </a:t>
            </a:r>
            <a:pPr indent="0" marL="0">
              <a:buNone/>
            </a:pPr>
            <a:r>
              <a:rPr lang="en-US" sz="1100" dirty="0">
                <a:solidFill>
                  <a:srgbClr val="DF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measured on outcomes closed, not messages sent. ARPU ~$6k → $30k+.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66344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We hold the four assets the agent needs — earned by the wedge, unavailable to anyone who skipped it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2642616" cy="1170432"/>
          </a:xfrm>
          <a:prstGeom prst="roundRect">
            <a:avLst>
              <a:gd name="adj" fmla="val 6250"/>
            </a:avLst>
          </a:prstGeom>
          <a:solidFill>
            <a:srgbClr val="F3EFF6"/>
          </a:solidFill>
          <a:ln w="12700">
            <a:solidFill>
              <a:srgbClr val="6B4A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5120640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identity &amp; consent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4944" y="5431536"/>
            <a:ext cx="23500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signed, verified agreement with every patient — the permission to act.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55848" y="5029200"/>
            <a:ext cx="2642616" cy="1170432"/>
          </a:xfrm>
          <a:prstGeom prst="roundRect">
            <a:avLst>
              <a:gd name="adj" fmla="val 6250"/>
            </a:avLst>
          </a:prstGeom>
          <a:solidFill>
            <a:srgbClr val="F3EFF6"/>
          </a:solidFill>
          <a:ln w="12700">
            <a:solidFill>
              <a:srgbClr val="6B4A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02152" y="5120640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comms channel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502152" y="5431536"/>
            <a:ext cx="23500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SMS, portal and AI chat the patient already answers — the reach to act.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63056" y="5029200"/>
            <a:ext cx="2642616" cy="1170432"/>
          </a:xfrm>
          <a:prstGeom prst="roundRect">
            <a:avLst>
              <a:gd name="adj" fmla="val 6250"/>
            </a:avLst>
          </a:prstGeom>
          <a:solidFill>
            <a:srgbClr val="F3EFF6"/>
          </a:solidFill>
          <a:ln w="12700">
            <a:solidFill>
              <a:srgbClr val="6B4A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5120640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write-back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09360" y="5431536"/>
            <a:ext cx="23500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that lands results in the record — the place to act.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970264" y="5029200"/>
            <a:ext cx="2642616" cy="1170432"/>
          </a:xfrm>
          <a:prstGeom prst="roundRect">
            <a:avLst>
              <a:gd name="adj" fmla="val 6250"/>
            </a:avLst>
          </a:prstGeom>
          <a:solidFill>
            <a:srgbClr val="F3EFF6"/>
          </a:solidFill>
          <a:ln w="12700">
            <a:solidFill>
              <a:srgbClr val="6B4A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16568" y="5120640"/>
            <a:ext cx="2350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trail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116568" y="5431536"/>
            <a:ext cx="23500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Non-repudiable logs of every step — the proof it acted correctly.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 funds the agent; the agent is defensible because of what the wedge left behind.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023360"/>
            <a:ext cx="4572000" cy="4572000"/>
          </a:xfrm>
          <a:prstGeom prst="ellipse">
            <a:avLst/>
          </a:prstGeom>
          <a:solidFill>
            <a:srgbClr val="1450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has to happen next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16736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these cost nothing and decide whether the rest is worth building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1389888"/>
          </a:xfrm>
          <a:prstGeom prst="roundRect">
            <a:avLst>
              <a:gd name="adj" fmla="val 6579"/>
            </a:avLst>
          </a:prstGeom>
          <a:solidFill>
            <a:srgbClr val="103F4C"/>
          </a:solidFill>
          <a:ln w="12700">
            <a:solidFill>
              <a:srgbClr val="2A6B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185416"/>
            <a:ext cx="384048" cy="384048"/>
          </a:xfrm>
          <a:prstGeom prst="ellipse">
            <a:avLst/>
          </a:prstGeom>
          <a:solidFill>
            <a:srgbClr val="F0B95E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167128"/>
            <a:ext cx="4507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write-back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679192"/>
            <a:ext cx="4928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signed agreement can land in the Medtech patient record. Without it this is a form, not a compliance product. Everything else waits.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440680" cy="1389888"/>
          </a:xfrm>
          <a:prstGeom prst="roundRect">
            <a:avLst>
              <a:gd name="adj" fmla="val 6579"/>
            </a:avLst>
          </a:prstGeom>
          <a:solidFill>
            <a:srgbClr val="103F4C"/>
          </a:solidFill>
          <a:ln w="12700">
            <a:solidFill>
              <a:srgbClr val="2A6B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9944" y="2185416"/>
            <a:ext cx="384048" cy="384048"/>
          </a:xfrm>
          <a:prstGeom prst="ellipse">
            <a:avLst/>
          </a:prstGeom>
          <a:solidFill>
            <a:srgbClr val="F0B95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9944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2167128"/>
            <a:ext cx="4507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open questions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28232" y="2679192"/>
            <a:ext cx="4928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enduring agreements are recorded with Services Australia. Whether a non-English agreement satisfies the requirement. What the conformance process actually covers.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538728"/>
            <a:ext cx="5440680" cy="1389888"/>
          </a:xfrm>
          <a:prstGeom prst="roundRect">
            <a:avLst>
              <a:gd name="adj" fmla="val 6579"/>
            </a:avLst>
          </a:prstGeom>
          <a:solidFill>
            <a:srgbClr val="103F4C"/>
          </a:solidFill>
          <a:ln w="12700">
            <a:solidFill>
              <a:srgbClr val="2A6B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3758184"/>
            <a:ext cx="384048" cy="384048"/>
          </a:xfrm>
          <a:prstGeom prst="ellipse">
            <a:avLst/>
          </a:prstGeom>
          <a:solidFill>
            <a:srgbClr val="F0B95E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739896"/>
            <a:ext cx="4507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fifteen practice managers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4251960"/>
            <a:ext cx="4928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Medtech, Genie/Gentu and the allied systems. Confirm they have no path and know it. That is the whole thesis in one set of conversations.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3538728"/>
            <a:ext cx="5440680" cy="1389888"/>
          </a:xfrm>
          <a:prstGeom prst="roundRect">
            <a:avLst>
              <a:gd name="adj" fmla="val 6579"/>
            </a:avLst>
          </a:prstGeom>
          <a:solidFill>
            <a:srgbClr val="103F4C"/>
          </a:solidFill>
          <a:ln w="12700">
            <a:solidFill>
              <a:srgbClr val="2A6B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9944" y="3758184"/>
            <a:ext cx="384048" cy="384048"/>
          </a:xfrm>
          <a:prstGeom prst="ellipse">
            <a:avLst/>
          </a:prstGeom>
          <a:solidFill>
            <a:srgbClr val="F0B95E"/>
          </a:solidFill>
          <a:ln/>
        </p:spPr>
      </p:sp>
      <p:sp>
        <p:nvSpPr>
          <p:cNvPr id="22" name="Text 20"/>
          <p:cNvSpPr/>
          <p:nvPr/>
        </p:nvSpPr>
        <p:spPr>
          <a:xfrm>
            <a:off x="6409944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3739896"/>
            <a:ext cx="4507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Measure, then price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28232" y="4251960"/>
            <a:ext cx="4928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the design partner. No return figure goes into writing until it has been observed.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519379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organisation in the Health Systems Developer Portal now — it is free, commits to nothing, and establishes the relationship before it is needed.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126480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9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Health Insurance Regulations 2018 Div 7A; F2025L00983; F2026L00824; DoHDA FAQ 16 July 2026; RACGP Health of the Nation 2025; AIHW; Productivity Commission RoGS 2026.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AoBPlatform — Business Case</dc:title>
  <dc:subject>PptxGenJS Presentation</dc:subject>
  <dc:creator>AoBPlatform</dc:creator>
  <cp:lastModifiedBy>AoBPlatform</cp:lastModifiedBy>
  <cp:revision>1</cp:revision>
  <dcterms:created xsi:type="dcterms:W3CDTF">2026-08-20T09:17:03Z</dcterms:created>
  <dcterms:modified xsi:type="dcterms:W3CDTF">2026-08-20T09:17:03Z</dcterms:modified>
</cp:coreProperties>
</file>