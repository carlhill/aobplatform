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9418320" y="-1463040"/>
            <a:ext cx="5120640" cy="5120640"/>
          </a:xfrm>
          <a:prstGeom prst="ellipse">
            <a:avLst/>
          </a:prstGeom>
          <a:solidFill>
            <a:srgbClr val="14505F"/>
          </a:solidFill>
          <a:ln/>
        </p:spPr>
      </p:sp>
      <p:sp>
        <p:nvSpPr>
          <p:cNvPr id="3" name="Shape 1"/>
          <p:cNvSpPr/>
          <p:nvPr/>
        </p:nvSpPr>
        <p:spPr>
          <a:xfrm>
            <a:off x="10789920" y="3931920"/>
            <a:ext cx="3291840" cy="3291840"/>
          </a:xfrm>
          <a:prstGeom prst="ellipse">
            <a:avLst/>
          </a:prstGeom>
          <a:solidFill>
            <a:srgbClr val="134A58"/>
          </a:solidFill>
          <a:ln/>
        </p:spPr>
      </p:sp>
      <p:sp>
        <p:nvSpPr>
          <p:cNvPr id="4" name="Text 2"/>
          <p:cNvSpPr/>
          <p:nvPr/>
        </p:nvSpPr>
        <p:spPr>
          <a:xfrm>
            <a:off x="548640" y="1783080"/>
            <a:ext cx="85039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Follow the money</a:t>
            </a:r>
            <a:endParaRPr lang="en-US" sz="4400" dirty="0"/>
          </a:p>
        </p:txBody>
      </p:sp>
      <p:sp>
        <p:nvSpPr>
          <p:cNvPr id="5" name="Text 3"/>
          <p:cNvSpPr/>
          <p:nvPr/>
        </p:nvSpPr>
        <p:spPr>
          <a:xfrm>
            <a:off x="548640" y="2670048"/>
            <a:ext cx="8503920" cy="457200"/>
          </a:xfrm>
          <a:prstGeom prst="rect">
            <a:avLst/>
          </a:prstGeom>
          <a:noFill/>
          <a:ln/>
        </p:spPr>
        <p:txBody>
          <a:bodyPr wrap="square" lIns="0" tIns="0" rIns="0" bIns="0" rtlCol="0" anchor="ctr"/>
          <a:lstStyle/>
          <a:p>
            <a:pPr indent="0" marL="0">
              <a:buNone/>
            </a:pPr>
            <a:r>
              <a:rPr lang="en-US" sz="1900" dirty="0">
                <a:solidFill>
                  <a:srgbClr val="A8CBD6"/>
                </a:solidFill>
                <a:latin typeface="Calibri" pitchFamily="34" charset="0"/>
                <a:ea typeface="Calibri" pitchFamily="34" charset="-122"/>
                <a:cs typeface="Calibri" pitchFamily="34" charset="-120"/>
              </a:rPr>
              <a:t>How a bulk-billed item is paid, how fast, and how it is policed</a:t>
            </a:r>
            <a:endParaRPr lang="en-US" sz="1900" dirty="0"/>
          </a:p>
        </p:txBody>
      </p:sp>
      <p:sp>
        <p:nvSpPr>
          <p:cNvPr id="6" name="Text 4"/>
          <p:cNvSpPr/>
          <p:nvPr/>
        </p:nvSpPr>
        <p:spPr>
          <a:xfrm>
            <a:off x="548640" y="3273552"/>
            <a:ext cx="8503920" cy="365760"/>
          </a:xfrm>
          <a:prstGeom prst="rect">
            <a:avLst/>
          </a:prstGeom>
          <a:noFill/>
          <a:ln/>
        </p:spPr>
        <p:txBody>
          <a:bodyPr wrap="square" lIns="0" tIns="0" rIns="0" bIns="0" rtlCol="0" anchor="ctr"/>
          <a:lstStyle/>
          <a:p>
            <a:pPr indent="0" marL="0">
              <a:buNone/>
            </a:pPr>
            <a:r>
              <a:rPr lang="en-US" sz="1300" i="1" dirty="0">
                <a:solidFill>
                  <a:srgbClr val="7FAEBC"/>
                </a:solidFill>
                <a:latin typeface="Calibri" pitchFamily="34" charset="0"/>
                <a:ea typeface="Calibri" pitchFamily="34" charset="-122"/>
                <a:cs typeface="Calibri" pitchFamily="34" charset="-120"/>
              </a:rPr>
              <a:t>Medicare payment flow, integrity controls and known non-compliance patterns</a:t>
            </a:r>
            <a:endParaRPr lang="en-US" sz="1300" dirty="0"/>
          </a:p>
        </p:txBody>
      </p:sp>
      <p:sp>
        <p:nvSpPr>
          <p:cNvPr id="7" name="Text 5"/>
          <p:cNvSpPr/>
          <p:nvPr/>
        </p:nvSpPr>
        <p:spPr>
          <a:xfrm>
            <a:off x="548640" y="5943600"/>
            <a:ext cx="5486400" cy="310896"/>
          </a:xfrm>
          <a:prstGeom prst="rect">
            <a:avLst/>
          </a:prstGeom>
          <a:noFill/>
          <a:ln/>
        </p:spPr>
        <p:txBody>
          <a:bodyPr wrap="square" lIns="0" tIns="0" rIns="0" bIns="0" rtlCol="0" anchor="ctr"/>
          <a:lstStyle/>
          <a:p>
            <a:pPr indent="0" marL="0">
              <a:buNone/>
            </a:pPr>
            <a:r>
              <a:rPr lang="en-US" sz="1100" dirty="0">
                <a:solidFill>
                  <a:srgbClr val="6E9FAE"/>
                </a:solidFill>
                <a:latin typeface="Calibri" pitchFamily="34" charset="0"/>
                <a:ea typeface="Calibri" pitchFamily="34" charset="-122"/>
                <a:cs typeface="Calibri" pitchFamily="34" charset="-120"/>
              </a:rPr>
              <a:t>AoBPlatform · 19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The money flow</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Five steps. The patient never touches the money — and that single fact shapes the whole fraud picture.</a:t>
            </a:r>
            <a:endParaRPr lang="en-US" sz="1300" dirty="0"/>
          </a:p>
        </p:txBody>
      </p:sp>
      <p:sp>
        <p:nvSpPr>
          <p:cNvPr id="4" name="Shape 2"/>
          <p:cNvSpPr/>
          <p:nvPr/>
        </p:nvSpPr>
        <p:spPr>
          <a:xfrm>
            <a:off x="548640" y="1700784"/>
            <a:ext cx="2084832" cy="1965960"/>
          </a:xfrm>
          <a:prstGeom prst="roundRect">
            <a:avLst>
              <a:gd name="adj" fmla="val 4651"/>
            </a:avLst>
          </a:prstGeom>
          <a:solidFill>
            <a:srgbClr val="EEF3F5"/>
          </a:solidFill>
          <a:ln w="9525">
            <a:solidFill>
              <a:srgbClr val="DCE6EA"/>
            </a:solidFill>
            <a:prstDash val="solid"/>
          </a:ln>
        </p:spPr>
      </p:sp>
      <p:sp>
        <p:nvSpPr>
          <p:cNvPr id="5" name="Shape 3"/>
          <p:cNvSpPr/>
          <p:nvPr/>
        </p:nvSpPr>
        <p:spPr>
          <a:xfrm>
            <a:off x="749808" y="1883664"/>
            <a:ext cx="384048" cy="384048"/>
          </a:xfrm>
          <a:prstGeom prst="ellipse">
            <a:avLst/>
          </a:prstGeom>
          <a:solidFill>
            <a:srgbClr val="C97B1E"/>
          </a:solidFill>
          <a:ln/>
        </p:spPr>
      </p:sp>
      <p:sp>
        <p:nvSpPr>
          <p:cNvPr id="6" name="Text 4"/>
          <p:cNvSpPr/>
          <p:nvPr/>
        </p:nvSpPr>
        <p:spPr>
          <a:xfrm>
            <a:off x="749808"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43584"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Assign</a:t>
            </a:r>
            <a:endParaRPr lang="en-US" sz="1200" dirty="0"/>
          </a:p>
        </p:txBody>
      </p:sp>
      <p:sp>
        <p:nvSpPr>
          <p:cNvPr id="8" name="Text 6"/>
          <p:cNvSpPr/>
          <p:nvPr/>
        </p:nvSpPr>
        <p:spPr>
          <a:xfrm>
            <a:off x="786384"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Patient assigns the benefit. Signed, retained 2 years by the practice.</a:t>
            </a:r>
            <a:endParaRPr lang="en-US" sz="1050" dirty="0"/>
          </a:p>
        </p:txBody>
      </p:sp>
      <p:sp>
        <p:nvSpPr>
          <p:cNvPr id="9" name="Shape 7"/>
          <p:cNvSpPr/>
          <p:nvPr/>
        </p:nvSpPr>
        <p:spPr>
          <a:xfrm>
            <a:off x="2660904" y="2651760"/>
            <a:ext cx="256032" cy="201168"/>
          </a:xfrm>
          <a:prstGeom prst="rightArrow">
            <a:avLst/>
          </a:prstGeom>
          <a:solidFill>
            <a:srgbClr val="C3D3D9"/>
          </a:solidFill>
          <a:ln w="12700">
            <a:solidFill>
              <a:srgbClr val="C3D3D9"/>
            </a:solidFill>
            <a:prstDash val="solid"/>
          </a:ln>
        </p:spPr>
      </p:sp>
      <p:sp>
        <p:nvSpPr>
          <p:cNvPr id="10" name="Shape 8"/>
          <p:cNvSpPr/>
          <p:nvPr/>
        </p:nvSpPr>
        <p:spPr>
          <a:xfrm>
            <a:off x="2816352" y="1700784"/>
            <a:ext cx="2084832" cy="1965960"/>
          </a:xfrm>
          <a:prstGeom prst="roundRect">
            <a:avLst>
              <a:gd name="adj" fmla="val 4651"/>
            </a:avLst>
          </a:prstGeom>
          <a:solidFill>
            <a:srgbClr val="EEF3F5"/>
          </a:solidFill>
          <a:ln w="9525">
            <a:solidFill>
              <a:srgbClr val="DCE6EA"/>
            </a:solidFill>
            <a:prstDash val="solid"/>
          </a:ln>
        </p:spPr>
      </p:sp>
      <p:sp>
        <p:nvSpPr>
          <p:cNvPr id="11" name="Shape 9"/>
          <p:cNvSpPr/>
          <p:nvPr/>
        </p:nvSpPr>
        <p:spPr>
          <a:xfrm>
            <a:off x="3017520" y="1883664"/>
            <a:ext cx="384048" cy="384048"/>
          </a:xfrm>
          <a:prstGeom prst="ellipse">
            <a:avLst/>
          </a:prstGeom>
          <a:solidFill>
            <a:srgbClr val="0B3C49"/>
          </a:solidFill>
          <a:ln/>
        </p:spPr>
      </p:sp>
      <p:sp>
        <p:nvSpPr>
          <p:cNvPr id="12" name="Text 10"/>
          <p:cNvSpPr/>
          <p:nvPr/>
        </p:nvSpPr>
        <p:spPr>
          <a:xfrm>
            <a:off x="3017520"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511296"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Bill</a:t>
            </a:r>
            <a:endParaRPr lang="en-US" sz="1200" dirty="0"/>
          </a:p>
        </p:txBody>
      </p:sp>
      <p:sp>
        <p:nvSpPr>
          <p:cNvPr id="14" name="Text 12"/>
          <p:cNvSpPr/>
          <p:nvPr/>
        </p:nvSpPr>
        <p:spPr>
          <a:xfrm>
            <a:off x="3054096"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Claim built in the practice software, batched by provider and location.</a:t>
            </a:r>
            <a:endParaRPr lang="en-US" sz="1050" dirty="0"/>
          </a:p>
        </p:txBody>
      </p:sp>
      <p:sp>
        <p:nvSpPr>
          <p:cNvPr id="15" name="Shape 13"/>
          <p:cNvSpPr/>
          <p:nvPr/>
        </p:nvSpPr>
        <p:spPr>
          <a:xfrm>
            <a:off x="4928616" y="2651760"/>
            <a:ext cx="256032" cy="201168"/>
          </a:xfrm>
          <a:prstGeom prst="rightArrow">
            <a:avLst/>
          </a:prstGeom>
          <a:solidFill>
            <a:srgbClr val="C3D3D9"/>
          </a:solidFill>
          <a:ln w="12700">
            <a:solidFill>
              <a:srgbClr val="C3D3D9"/>
            </a:solidFill>
            <a:prstDash val="solid"/>
          </a:ln>
        </p:spPr>
      </p:sp>
      <p:sp>
        <p:nvSpPr>
          <p:cNvPr id="16" name="Shape 14"/>
          <p:cNvSpPr/>
          <p:nvPr/>
        </p:nvSpPr>
        <p:spPr>
          <a:xfrm>
            <a:off x="5084064" y="1700784"/>
            <a:ext cx="2084832" cy="1965960"/>
          </a:xfrm>
          <a:prstGeom prst="roundRect">
            <a:avLst>
              <a:gd name="adj" fmla="val 4651"/>
            </a:avLst>
          </a:prstGeom>
          <a:solidFill>
            <a:srgbClr val="EEF3F5"/>
          </a:solidFill>
          <a:ln w="9525">
            <a:solidFill>
              <a:srgbClr val="DCE6EA"/>
            </a:solidFill>
            <a:prstDash val="solid"/>
          </a:ln>
        </p:spPr>
      </p:sp>
      <p:sp>
        <p:nvSpPr>
          <p:cNvPr id="17" name="Shape 15"/>
          <p:cNvSpPr/>
          <p:nvPr/>
        </p:nvSpPr>
        <p:spPr>
          <a:xfrm>
            <a:off x="5285232" y="1883664"/>
            <a:ext cx="384048" cy="384048"/>
          </a:xfrm>
          <a:prstGeom prst="ellipse">
            <a:avLst/>
          </a:prstGeom>
          <a:solidFill>
            <a:srgbClr val="1C7293"/>
          </a:solidFill>
          <a:ln/>
        </p:spPr>
      </p:sp>
      <p:sp>
        <p:nvSpPr>
          <p:cNvPr id="18" name="Text 16"/>
          <p:cNvSpPr/>
          <p:nvPr/>
        </p:nvSpPr>
        <p:spPr>
          <a:xfrm>
            <a:off x="5285232"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5779008"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Transmit</a:t>
            </a:r>
            <a:endParaRPr lang="en-US" sz="1200" dirty="0"/>
          </a:p>
        </p:txBody>
      </p:sp>
      <p:sp>
        <p:nvSpPr>
          <p:cNvPr id="20" name="Text 18"/>
          <p:cNvSpPr/>
          <p:nvPr/>
        </p:nvSpPr>
        <p:spPr>
          <a:xfrm>
            <a:off x="5321808"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Medicare Online, Easyclaim terminal, Webclaim, or ECLIPSE for in-hospital.</a:t>
            </a:r>
            <a:endParaRPr lang="en-US" sz="1050" dirty="0"/>
          </a:p>
        </p:txBody>
      </p:sp>
      <p:sp>
        <p:nvSpPr>
          <p:cNvPr id="21" name="Shape 19"/>
          <p:cNvSpPr/>
          <p:nvPr/>
        </p:nvSpPr>
        <p:spPr>
          <a:xfrm>
            <a:off x="7196328" y="2651760"/>
            <a:ext cx="256032" cy="201168"/>
          </a:xfrm>
          <a:prstGeom prst="rightArrow">
            <a:avLst/>
          </a:prstGeom>
          <a:solidFill>
            <a:srgbClr val="C3D3D9"/>
          </a:solidFill>
          <a:ln w="12700">
            <a:solidFill>
              <a:srgbClr val="C3D3D9"/>
            </a:solidFill>
            <a:prstDash val="solid"/>
          </a:ln>
        </p:spPr>
      </p:sp>
      <p:sp>
        <p:nvSpPr>
          <p:cNvPr id="22" name="Shape 20"/>
          <p:cNvSpPr/>
          <p:nvPr/>
        </p:nvSpPr>
        <p:spPr>
          <a:xfrm>
            <a:off x="7351776" y="1700784"/>
            <a:ext cx="2084832" cy="1965960"/>
          </a:xfrm>
          <a:prstGeom prst="roundRect">
            <a:avLst>
              <a:gd name="adj" fmla="val 4651"/>
            </a:avLst>
          </a:prstGeom>
          <a:solidFill>
            <a:srgbClr val="EEF3F5"/>
          </a:solidFill>
          <a:ln w="9525">
            <a:solidFill>
              <a:srgbClr val="DCE6EA"/>
            </a:solidFill>
            <a:prstDash val="solid"/>
          </a:ln>
        </p:spPr>
      </p:sp>
      <p:sp>
        <p:nvSpPr>
          <p:cNvPr id="23" name="Shape 21"/>
          <p:cNvSpPr/>
          <p:nvPr/>
        </p:nvSpPr>
        <p:spPr>
          <a:xfrm>
            <a:off x="7552944" y="1883664"/>
            <a:ext cx="384048" cy="384048"/>
          </a:xfrm>
          <a:prstGeom prst="ellipse">
            <a:avLst/>
          </a:prstGeom>
          <a:solidFill>
            <a:srgbClr val="6B4A7A"/>
          </a:solidFill>
          <a:ln/>
        </p:spPr>
      </p:sp>
      <p:sp>
        <p:nvSpPr>
          <p:cNvPr id="24" name="Text 22"/>
          <p:cNvSpPr/>
          <p:nvPr/>
        </p:nvSpPr>
        <p:spPr>
          <a:xfrm>
            <a:off x="7552944"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8046720"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Assess</a:t>
            </a:r>
            <a:endParaRPr lang="en-US" sz="1200" dirty="0"/>
          </a:p>
        </p:txBody>
      </p:sp>
      <p:sp>
        <p:nvSpPr>
          <p:cNvPr id="26" name="Text 24"/>
          <p:cNvSpPr/>
          <p:nvPr/>
        </p:nvSpPr>
        <p:spPr>
          <a:xfrm>
            <a:off x="7589520"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Claims assessing engine validates the claim, the lines, and across the lines.</a:t>
            </a:r>
            <a:endParaRPr lang="en-US" sz="1050" dirty="0"/>
          </a:p>
        </p:txBody>
      </p:sp>
      <p:sp>
        <p:nvSpPr>
          <p:cNvPr id="27" name="Shape 25"/>
          <p:cNvSpPr/>
          <p:nvPr/>
        </p:nvSpPr>
        <p:spPr>
          <a:xfrm>
            <a:off x="9464040" y="2651760"/>
            <a:ext cx="256032" cy="201168"/>
          </a:xfrm>
          <a:prstGeom prst="rightArrow">
            <a:avLst/>
          </a:prstGeom>
          <a:solidFill>
            <a:srgbClr val="C3D3D9"/>
          </a:solidFill>
          <a:ln w="12700">
            <a:solidFill>
              <a:srgbClr val="C3D3D9"/>
            </a:solidFill>
            <a:prstDash val="solid"/>
          </a:ln>
        </p:spPr>
      </p:sp>
      <p:sp>
        <p:nvSpPr>
          <p:cNvPr id="28" name="Shape 26"/>
          <p:cNvSpPr/>
          <p:nvPr/>
        </p:nvSpPr>
        <p:spPr>
          <a:xfrm>
            <a:off x="9619488" y="1700784"/>
            <a:ext cx="2084832" cy="1965960"/>
          </a:xfrm>
          <a:prstGeom prst="roundRect">
            <a:avLst>
              <a:gd name="adj" fmla="val 4651"/>
            </a:avLst>
          </a:prstGeom>
          <a:solidFill>
            <a:srgbClr val="EEF3F5"/>
          </a:solidFill>
          <a:ln w="9525">
            <a:solidFill>
              <a:srgbClr val="DCE6EA"/>
            </a:solidFill>
            <a:prstDash val="solid"/>
          </a:ln>
        </p:spPr>
      </p:sp>
      <p:sp>
        <p:nvSpPr>
          <p:cNvPr id="29" name="Shape 27"/>
          <p:cNvSpPr/>
          <p:nvPr/>
        </p:nvSpPr>
        <p:spPr>
          <a:xfrm>
            <a:off x="9820656" y="1883664"/>
            <a:ext cx="384048" cy="384048"/>
          </a:xfrm>
          <a:prstGeom prst="ellipse">
            <a:avLst/>
          </a:prstGeom>
          <a:solidFill>
            <a:srgbClr val="3F7D5C"/>
          </a:solidFill>
          <a:ln/>
        </p:spPr>
      </p:sp>
      <p:sp>
        <p:nvSpPr>
          <p:cNvPr id="30" name="Text 28"/>
          <p:cNvSpPr/>
          <p:nvPr/>
        </p:nvSpPr>
        <p:spPr>
          <a:xfrm>
            <a:off x="9820656"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10314432"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Pay</a:t>
            </a:r>
            <a:endParaRPr lang="en-US" sz="1200" dirty="0"/>
          </a:p>
        </p:txBody>
      </p:sp>
      <p:sp>
        <p:nvSpPr>
          <p:cNvPr id="32" name="Text 30"/>
          <p:cNvSpPr/>
          <p:nvPr/>
        </p:nvSpPr>
        <p:spPr>
          <a:xfrm>
            <a:off x="9857232"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EFT from Services Australia direct to the provider’s registered bank account.</a:t>
            </a:r>
            <a:endParaRPr lang="en-US" sz="1050" dirty="0"/>
          </a:p>
        </p:txBody>
      </p:sp>
      <p:sp>
        <p:nvSpPr>
          <p:cNvPr id="33" name="Shape 31"/>
          <p:cNvSpPr/>
          <p:nvPr/>
        </p:nvSpPr>
        <p:spPr>
          <a:xfrm>
            <a:off x="548640" y="3931920"/>
            <a:ext cx="5486400" cy="1600200"/>
          </a:xfrm>
          <a:prstGeom prst="roundRect">
            <a:avLst>
              <a:gd name="adj" fmla="val 5714"/>
            </a:avLst>
          </a:prstGeom>
          <a:solidFill>
            <a:srgbClr val="FBEDEA"/>
          </a:solidFill>
          <a:ln w="19050">
            <a:solidFill>
              <a:srgbClr val="B23A26"/>
            </a:solidFill>
            <a:prstDash val="solid"/>
          </a:ln>
        </p:spPr>
      </p:sp>
      <p:sp>
        <p:nvSpPr>
          <p:cNvPr id="34" name="Text 32"/>
          <p:cNvSpPr/>
          <p:nvPr/>
        </p:nvSpPr>
        <p:spPr>
          <a:xfrm>
            <a:off x="822960" y="4078224"/>
            <a:ext cx="4937760" cy="347472"/>
          </a:xfrm>
          <a:prstGeom prst="rect">
            <a:avLst/>
          </a:prstGeom>
          <a:noFill/>
          <a:ln/>
        </p:spPr>
        <p:txBody>
          <a:bodyPr wrap="square" lIns="0" tIns="0" rIns="0" bIns="0" rtlCol="0" anchor="ctr"/>
          <a:lstStyle/>
          <a:p>
            <a:pPr indent="0" marL="0">
              <a:buNone/>
            </a:pPr>
            <a:r>
              <a:rPr lang="en-US" sz="1400" b="1" dirty="0">
                <a:solidFill>
                  <a:srgbClr val="B23A26"/>
                </a:solidFill>
                <a:latin typeface="Calibri" pitchFamily="34" charset="0"/>
                <a:ea typeface="Calibri" pitchFamily="34" charset="-122"/>
                <a:cs typeface="Calibri" pitchFamily="34" charset="-120"/>
              </a:rPr>
              <a:t>The benefit is paid to the practitioner</a:t>
            </a:r>
            <a:endParaRPr lang="en-US" sz="1400" dirty="0"/>
          </a:p>
        </p:txBody>
      </p:sp>
      <p:sp>
        <p:nvSpPr>
          <p:cNvPr id="35" name="Text 33"/>
          <p:cNvSpPr/>
          <p:nvPr/>
        </p:nvSpPr>
        <p:spPr>
          <a:xfrm>
            <a:off x="822960" y="4480560"/>
            <a:ext cx="4937760" cy="914400"/>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Against a provider number, into a bank account registered per location. A patient never receives the money on a bulk-billed item — so stolen patient data alone has no path to funds. Fraud at scale needs provider-side capability.</a:t>
            </a:r>
            <a:endParaRPr lang="en-US" sz="1100" dirty="0"/>
          </a:p>
        </p:txBody>
      </p:sp>
      <p:sp>
        <p:nvSpPr>
          <p:cNvPr id="36" name="Shape 34"/>
          <p:cNvSpPr/>
          <p:nvPr/>
        </p:nvSpPr>
        <p:spPr>
          <a:xfrm>
            <a:off x="6309360" y="3931920"/>
            <a:ext cx="5852160" cy="1600200"/>
          </a:xfrm>
          <a:prstGeom prst="roundRect">
            <a:avLst>
              <a:gd name="adj" fmla="val 5714"/>
            </a:avLst>
          </a:prstGeom>
          <a:solidFill>
            <a:srgbClr val="FFFFFF"/>
          </a:solidFill>
          <a:ln w="19050">
            <a:solidFill>
              <a:srgbClr val="6B4A7A"/>
            </a:solidFill>
            <a:prstDash val="solid"/>
          </a:ln>
        </p:spPr>
      </p:sp>
      <p:sp>
        <p:nvSpPr>
          <p:cNvPr id="37" name="Text 35"/>
          <p:cNvSpPr/>
          <p:nvPr/>
        </p:nvSpPr>
        <p:spPr>
          <a:xfrm>
            <a:off x="6583680" y="4078224"/>
            <a:ext cx="5303520" cy="347472"/>
          </a:xfrm>
          <a:prstGeom prst="rect">
            <a:avLst/>
          </a:prstGeom>
          <a:noFill/>
          <a:ln/>
        </p:spPr>
        <p:txBody>
          <a:bodyPr wrap="square" lIns="0" tIns="0" rIns="0" bIns="0" rtlCol="0" anchor="ctr"/>
          <a:lstStyle/>
          <a:p>
            <a:pPr indent="0" marL="0">
              <a:buNone/>
            </a:pPr>
            <a:r>
              <a:rPr lang="en-US" sz="1400" b="1" dirty="0">
                <a:solidFill>
                  <a:srgbClr val="6B4A7A"/>
                </a:solidFill>
                <a:latin typeface="Calibri" pitchFamily="34" charset="0"/>
                <a:ea typeface="Calibri" pitchFamily="34" charset="-122"/>
                <a:cs typeface="Calibri" pitchFamily="34" charset="-120"/>
              </a:rPr>
              <a:t>Registering where the money lands</a:t>
            </a:r>
            <a:endParaRPr lang="en-US" sz="1400" dirty="0"/>
          </a:p>
        </p:txBody>
      </p:sp>
      <p:sp>
        <p:nvSpPr>
          <p:cNvPr id="38" name="Text 36"/>
          <p:cNvSpPr/>
          <p:nvPr/>
        </p:nvSpPr>
        <p:spPr>
          <a:xfrm>
            <a:off x="6583680" y="4480560"/>
            <a:ext cx="5303520" cy="914400"/>
          </a:xfrm>
          <a:prstGeom prst="rect">
            <a:avLst/>
          </a:prstGeom>
          <a:noFill/>
          <a:ln/>
        </p:spPr>
        <p:txBody>
          <a:bodyPr wrap="square" lIns="0" tIns="0" rIns="0" bIns="0" rtlCol="0" anchor="ctr"/>
          <a:lstStyle/>
          <a:p>
            <a:pPr marL="342900" indent="-342900">
              <a:spcAft>
                <a:spcPts val="500"/>
              </a:spcAft>
              <a:buSzPct val="100000"/>
              <a:buChar char="•"/>
            </a:pPr>
            <a:r>
              <a:rPr lang="en-US" sz="950" dirty="0">
                <a:solidFill>
                  <a:srgbClr val="33454C"/>
                </a:solidFill>
                <a:latin typeface="Calibri" pitchFamily="34" charset="0"/>
                <a:ea typeface="Calibri" pitchFamily="34" charset="-122"/>
                <a:cs typeface="Calibri" pitchFamily="34" charset="-120"/>
              </a:rPr>
              <a:t>HW027 — Online Claiming Provider Agreement: registers the Minor ID and the location’s bank account</a:t>
            </a:r>
            <a:endParaRPr lang="en-US" sz="950" dirty="0"/>
          </a:p>
          <a:p>
            <a:pPr marL="342900" indent="-342900">
              <a:spcAft>
                <a:spcPts val="500"/>
              </a:spcAft>
              <a:buSzPct val="100000"/>
              <a:buChar char="•"/>
            </a:pPr>
            <a:r>
              <a:rPr lang="en-US" sz="950" dirty="0">
                <a:solidFill>
                  <a:srgbClr val="33454C"/>
                </a:solidFill>
                <a:latin typeface="Calibri" pitchFamily="34" charset="0"/>
                <a:ea typeface="Calibri" pitchFamily="34" charset="-122"/>
                <a:cs typeface="Calibri" pitchFamily="34" charset="-120"/>
              </a:rPr>
              <a:t>HW029 / HW052 — add or update bank details for one or many servicing providers</a:t>
            </a:r>
            <a:endParaRPr lang="en-US" sz="950" dirty="0"/>
          </a:p>
          <a:p>
            <a:pPr marL="342900" indent="-342900">
              <a:spcAft>
                <a:spcPts val="500"/>
              </a:spcAft>
              <a:buSzPct val="100000"/>
              <a:buChar char="•"/>
            </a:pPr>
            <a:r>
              <a:rPr lang="en-US" sz="950" dirty="0">
                <a:solidFill>
                  <a:srgbClr val="33454C"/>
                </a:solidFill>
                <a:latin typeface="Calibri" pitchFamily="34" charset="0"/>
                <a:ea typeface="Calibri" pitchFamily="34" charset="-122"/>
                <a:cs typeface="Calibri" pitchFamily="34" charset="-120"/>
              </a:rPr>
              <a:t>Fastest route: the provider updates bank details directly in PRODA → HPOS, no form at all</a:t>
            </a:r>
            <a:endParaRPr lang="en-US" sz="950" dirty="0"/>
          </a:p>
        </p:txBody>
      </p:sp>
      <p:sp>
        <p:nvSpPr>
          <p:cNvPr id="39" name="Text 37"/>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Services Australia, Claim Medicare bulk bill payments; Clinic to Cloud, HW027/HW029/HW052.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How fast the money moves</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Published figures. Assessment and payment run on two different clocks — do not conflate them.</a:t>
            </a:r>
            <a:endParaRPr lang="en-US" sz="1300" dirty="0"/>
          </a:p>
        </p:txBody>
      </p:sp>
      <p:sp>
        <p:nvSpPr>
          <p:cNvPr id="4" name="Shape 2"/>
          <p:cNvSpPr/>
          <p:nvPr/>
        </p:nvSpPr>
        <p:spPr>
          <a:xfrm>
            <a:off x="548640" y="1645920"/>
            <a:ext cx="4023360" cy="512064"/>
          </a:xfrm>
          <a:prstGeom prst="rect">
            <a:avLst/>
          </a:prstGeom>
          <a:solidFill>
            <a:srgbClr val="0B3C49"/>
          </a:solidFill>
          <a:ln w="9525">
            <a:solidFill>
              <a:srgbClr val="DCE6EA"/>
            </a:solidFill>
            <a:prstDash val="solid"/>
          </a:ln>
        </p:spPr>
      </p:sp>
      <p:sp>
        <p:nvSpPr>
          <p:cNvPr id="5" name="Text 3"/>
          <p:cNvSpPr/>
          <p:nvPr/>
        </p:nvSpPr>
        <p:spPr>
          <a:xfrm>
            <a:off x="676656" y="1645920"/>
            <a:ext cx="3767328"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Channel</a:t>
            </a:r>
            <a:endParaRPr lang="en-US" sz="1050" dirty="0"/>
          </a:p>
        </p:txBody>
      </p:sp>
      <p:sp>
        <p:nvSpPr>
          <p:cNvPr id="6" name="Shape 4"/>
          <p:cNvSpPr/>
          <p:nvPr/>
        </p:nvSpPr>
        <p:spPr>
          <a:xfrm>
            <a:off x="4572000" y="1645920"/>
            <a:ext cx="3657600" cy="512064"/>
          </a:xfrm>
          <a:prstGeom prst="rect">
            <a:avLst/>
          </a:prstGeom>
          <a:solidFill>
            <a:srgbClr val="0B3C49"/>
          </a:solidFill>
          <a:ln w="9525">
            <a:solidFill>
              <a:srgbClr val="DCE6EA"/>
            </a:solidFill>
            <a:prstDash val="solid"/>
          </a:ln>
        </p:spPr>
      </p:sp>
      <p:sp>
        <p:nvSpPr>
          <p:cNvPr id="7" name="Text 5"/>
          <p:cNvSpPr/>
          <p:nvPr/>
        </p:nvSpPr>
        <p:spPr>
          <a:xfrm>
            <a:off x="4700016" y="1645920"/>
            <a:ext cx="3401568"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Bulk bill — paid to provider</a:t>
            </a:r>
            <a:endParaRPr lang="en-US" sz="1050" dirty="0"/>
          </a:p>
        </p:txBody>
      </p:sp>
      <p:sp>
        <p:nvSpPr>
          <p:cNvPr id="8" name="Shape 6"/>
          <p:cNvSpPr/>
          <p:nvPr/>
        </p:nvSpPr>
        <p:spPr>
          <a:xfrm>
            <a:off x="8229600" y="1645920"/>
            <a:ext cx="3383280" cy="512064"/>
          </a:xfrm>
          <a:prstGeom prst="rect">
            <a:avLst/>
          </a:prstGeom>
          <a:solidFill>
            <a:srgbClr val="0B3C49"/>
          </a:solidFill>
          <a:ln w="9525">
            <a:solidFill>
              <a:srgbClr val="DCE6EA"/>
            </a:solidFill>
            <a:prstDash val="solid"/>
          </a:ln>
        </p:spPr>
      </p:sp>
      <p:sp>
        <p:nvSpPr>
          <p:cNvPr id="9" name="Text 7"/>
          <p:cNvSpPr/>
          <p:nvPr/>
        </p:nvSpPr>
        <p:spPr>
          <a:xfrm>
            <a:off x="8357616" y="1645920"/>
            <a:ext cx="3127248"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Patient claim — paid to claimant</a:t>
            </a:r>
            <a:endParaRPr lang="en-US" sz="1050" dirty="0"/>
          </a:p>
        </p:txBody>
      </p:sp>
      <p:sp>
        <p:nvSpPr>
          <p:cNvPr id="10" name="Shape 8"/>
          <p:cNvSpPr/>
          <p:nvPr/>
        </p:nvSpPr>
        <p:spPr>
          <a:xfrm>
            <a:off x="548640" y="2157984"/>
            <a:ext cx="4023360" cy="512064"/>
          </a:xfrm>
          <a:prstGeom prst="rect">
            <a:avLst/>
          </a:prstGeom>
          <a:solidFill>
            <a:srgbClr val="FFFFFF"/>
          </a:solidFill>
          <a:ln w="9525">
            <a:solidFill>
              <a:srgbClr val="DCE6EA"/>
            </a:solidFill>
            <a:prstDash val="solid"/>
          </a:ln>
        </p:spPr>
      </p:sp>
      <p:sp>
        <p:nvSpPr>
          <p:cNvPr id="11" name="Text 9"/>
          <p:cNvSpPr/>
          <p:nvPr/>
        </p:nvSpPr>
        <p:spPr>
          <a:xfrm>
            <a:off x="676656" y="2157984"/>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Medicare Easyclaim (EFTPOS terminal)</a:t>
            </a:r>
            <a:endParaRPr lang="en-US" sz="1050" dirty="0"/>
          </a:p>
        </p:txBody>
      </p:sp>
      <p:sp>
        <p:nvSpPr>
          <p:cNvPr id="12" name="Shape 10"/>
          <p:cNvSpPr/>
          <p:nvPr/>
        </p:nvSpPr>
        <p:spPr>
          <a:xfrm>
            <a:off x="4572000" y="2157984"/>
            <a:ext cx="3657600" cy="512064"/>
          </a:xfrm>
          <a:prstGeom prst="rect">
            <a:avLst/>
          </a:prstGeom>
          <a:solidFill>
            <a:srgbClr val="FFFFFF"/>
          </a:solidFill>
          <a:ln w="9525">
            <a:solidFill>
              <a:srgbClr val="DCE6EA"/>
            </a:solidFill>
            <a:prstDash val="solid"/>
          </a:ln>
        </p:spPr>
      </p:sp>
      <p:sp>
        <p:nvSpPr>
          <p:cNvPr id="13" name="Text 11"/>
          <p:cNvSpPr/>
          <p:nvPr/>
        </p:nvSpPr>
        <p:spPr>
          <a:xfrm>
            <a:off x="4700016" y="2157984"/>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2–3 working days</a:t>
            </a:r>
            <a:endParaRPr lang="en-US" sz="1050" dirty="0"/>
          </a:p>
        </p:txBody>
      </p:sp>
      <p:sp>
        <p:nvSpPr>
          <p:cNvPr id="14" name="Shape 12"/>
          <p:cNvSpPr/>
          <p:nvPr/>
        </p:nvSpPr>
        <p:spPr>
          <a:xfrm>
            <a:off x="8229600" y="2157984"/>
            <a:ext cx="3383280" cy="512064"/>
          </a:xfrm>
          <a:prstGeom prst="rect">
            <a:avLst/>
          </a:prstGeom>
          <a:solidFill>
            <a:srgbClr val="FFFFFF"/>
          </a:solidFill>
          <a:ln w="9525">
            <a:solidFill>
              <a:srgbClr val="DCE6EA"/>
            </a:solidFill>
            <a:prstDash val="solid"/>
          </a:ln>
        </p:spPr>
      </p:sp>
      <p:sp>
        <p:nvSpPr>
          <p:cNvPr id="15" name="Text 13"/>
          <p:cNvSpPr/>
          <p:nvPr/>
        </p:nvSpPr>
        <p:spPr>
          <a:xfrm>
            <a:off x="8357616" y="2157984"/>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Almost immediately</a:t>
            </a:r>
            <a:endParaRPr lang="en-US" sz="1050" dirty="0"/>
          </a:p>
        </p:txBody>
      </p:sp>
      <p:sp>
        <p:nvSpPr>
          <p:cNvPr id="16" name="Shape 14"/>
          <p:cNvSpPr/>
          <p:nvPr/>
        </p:nvSpPr>
        <p:spPr>
          <a:xfrm>
            <a:off x="548640" y="2670048"/>
            <a:ext cx="4023360" cy="512064"/>
          </a:xfrm>
          <a:prstGeom prst="rect">
            <a:avLst/>
          </a:prstGeom>
          <a:solidFill>
            <a:srgbClr val="EEF3F5"/>
          </a:solidFill>
          <a:ln w="9525">
            <a:solidFill>
              <a:srgbClr val="DCE6EA"/>
            </a:solidFill>
            <a:prstDash val="solid"/>
          </a:ln>
        </p:spPr>
      </p:sp>
      <p:sp>
        <p:nvSpPr>
          <p:cNvPr id="17" name="Text 15"/>
          <p:cNvSpPr/>
          <p:nvPr/>
        </p:nvSpPr>
        <p:spPr>
          <a:xfrm>
            <a:off x="676656" y="2670048"/>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Medicare Online (practice software)</a:t>
            </a:r>
            <a:endParaRPr lang="en-US" sz="1050" dirty="0"/>
          </a:p>
        </p:txBody>
      </p:sp>
      <p:sp>
        <p:nvSpPr>
          <p:cNvPr id="18" name="Shape 16"/>
          <p:cNvSpPr/>
          <p:nvPr/>
        </p:nvSpPr>
        <p:spPr>
          <a:xfrm>
            <a:off x="4572000" y="2670048"/>
            <a:ext cx="3657600" cy="512064"/>
          </a:xfrm>
          <a:prstGeom prst="rect">
            <a:avLst/>
          </a:prstGeom>
          <a:solidFill>
            <a:srgbClr val="EEF3F5"/>
          </a:solidFill>
          <a:ln w="9525">
            <a:solidFill>
              <a:srgbClr val="DCE6EA"/>
            </a:solidFill>
            <a:prstDash val="solid"/>
          </a:ln>
        </p:spPr>
      </p:sp>
      <p:sp>
        <p:nvSpPr>
          <p:cNvPr id="19" name="Text 17"/>
          <p:cNvSpPr/>
          <p:nvPr/>
        </p:nvSpPr>
        <p:spPr>
          <a:xfrm>
            <a:off x="4700016" y="2670048"/>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2–3 working days</a:t>
            </a:r>
            <a:endParaRPr lang="en-US" sz="1050" dirty="0"/>
          </a:p>
        </p:txBody>
      </p:sp>
      <p:sp>
        <p:nvSpPr>
          <p:cNvPr id="20" name="Shape 18"/>
          <p:cNvSpPr/>
          <p:nvPr/>
        </p:nvSpPr>
        <p:spPr>
          <a:xfrm>
            <a:off x="8229600" y="2670048"/>
            <a:ext cx="3383280" cy="512064"/>
          </a:xfrm>
          <a:prstGeom prst="rect">
            <a:avLst/>
          </a:prstGeom>
          <a:solidFill>
            <a:srgbClr val="EEF3F5"/>
          </a:solidFill>
          <a:ln w="9525">
            <a:solidFill>
              <a:srgbClr val="DCE6EA"/>
            </a:solidFill>
            <a:prstDash val="solid"/>
          </a:ln>
        </p:spPr>
      </p:sp>
      <p:sp>
        <p:nvSpPr>
          <p:cNvPr id="21" name="Text 19"/>
          <p:cNvSpPr/>
          <p:nvPr/>
        </p:nvSpPr>
        <p:spPr>
          <a:xfrm>
            <a:off x="8357616" y="2670048"/>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Usually next working day</a:t>
            </a:r>
            <a:endParaRPr lang="en-US" sz="1050" dirty="0"/>
          </a:p>
        </p:txBody>
      </p:sp>
      <p:sp>
        <p:nvSpPr>
          <p:cNvPr id="22" name="Shape 20"/>
          <p:cNvSpPr/>
          <p:nvPr/>
        </p:nvSpPr>
        <p:spPr>
          <a:xfrm>
            <a:off x="548640" y="3182112"/>
            <a:ext cx="4023360" cy="512064"/>
          </a:xfrm>
          <a:prstGeom prst="rect">
            <a:avLst/>
          </a:prstGeom>
          <a:solidFill>
            <a:srgbClr val="FFFFFF"/>
          </a:solidFill>
          <a:ln w="9525">
            <a:solidFill>
              <a:srgbClr val="DCE6EA"/>
            </a:solidFill>
            <a:prstDash val="solid"/>
          </a:ln>
        </p:spPr>
      </p:sp>
      <p:sp>
        <p:nvSpPr>
          <p:cNvPr id="23" name="Text 21"/>
          <p:cNvSpPr/>
          <p:nvPr/>
        </p:nvSpPr>
        <p:spPr>
          <a:xfrm>
            <a:off x="676656" y="3182112"/>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Medicare Webclaim (HPOS)</a:t>
            </a:r>
            <a:endParaRPr lang="en-US" sz="1050" dirty="0"/>
          </a:p>
        </p:txBody>
      </p:sp>
      <p:sp>
        <p:nvSpPr>
          <p:cNvPr id="24" name="Shape 22"/>
          <p:cNvSpPr/>
          <p:nvPr/>
        </p:nvSpPr>
        <p:spPr>
          <a:xfrm>
            <a:off x="4572000" y="3182112"/>
            <a:ext cx="3657600" cy="512064"/>
          </a:xfrm>
          <a:prstGeom prst="rect">
            <a:avLst/>
          </a:prstGeom>
          <a:solidFill>
            <a:srgbClr val="FFFFFF"/>
          </a:solidFill>
          <a:ln w="9525">
            <a:solidFill>
              <a:srgbClr val="DCE6EA"/>
            </a:solidFill>
            <a:prstDash val="solid"/>
          </a:ln>
        </p:spPr>
      </p:sp>
      <p:sp>
        <p:nvSpPr>
          <p:cNvPr id="25" name="Text 23"/>
          <p:cNvSpPr/>
          <p:nvPr/>
        </p:nvSpPr>
        <p:spPr>
          <a:xfrm>
            <a:off x="4700016" y="3182112"/>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1–3 working days</a:t>
            </a:r>
            <a:endParaRPr lang="en-US" sz="1050" dirty="0"/>
          </a:p>
        </p:txBody>
      </p:sp>
      <p:sp>
        <p:nvSpPr>
          <p:cNvPr id="26" name="Shape 24"/>
          <p:cNvSpPr/>
          <p:nvPr/>
        </p:nvSpPr>
        <p:spPr>
          <a:xfrm>
            <a:off x="8229600" y="3182112"/>
            <a:ext cx="3383280" cy="512064"/>
          </a:xfrm>
          <a:prstGeom prst="rect">
            <a:avLst/>
          </a:prstGeom>
          <a:solidFill>
            <a:srgbClr val="FFFFFF"/>
          </a:solidFill>
          <a:ln w="9525">
            <a:solidFill>
              <a:srgbClr val="DCE6EA"/>
            </a:solidFill>
            <a:prstDash val="solid"/>
          </a:ln>
        </p:spPr>
      </p:sp>
      <p:sp>
        <p:nvSpPr>
          <p:cNvPr id="27" name="Text 25"/>
          <p:cNvSpPr/>
          <p:nvPr/>
        </p:nvSpPr>
        <p:spPr>
          <a:xfrm>
            <a:off x="8357616" y="3182112"/>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1–3 working days</a:t>
            </a:r>
            <a:endParaRPr lang="en-US" sz="1050" dirty="0"/>
          </a:p>
        </p:txBody>
      </p:sp>
      <p:sp>
        <p:nvSpPr>
          <p:cNvPr id="28" name="Shape 26"/>
          <p:cNvSpPr/>
          <p:nvPr/>
        </p:nvSpPr>
        <p:spPr>
          <a:xfrm>
            <a:off x="548640" y="3694176"/>
            <a:ext cx="4023360" cy="512064"/>
          </a:xfrm>
          <a:prstGeom prst="rect">
            <a:avLst/>
          </a:prstGeom>
          <a:solidFill>
            <a:srgbClr val="EEF3F5"/>
          </a:solidFill>
          <a:ln w="9525">
            <a:solidFill>
              <a:srgbClr val="DCE6EA"/>
            </a:solidFill>
            <a:prstDash val="solid"/>
          </a:ln>
        </p:spPr>
      </p:sp>
      <p:sp>
        <p:nvSpPr>
          <p:cNvPr id="29" name="Text 27"/>
          <p:cNvSpPr/>
          <p:nvPr/>
        </p:nvSpPr>
        <p:spPr>
          <a:xfrm>
            <a:off x="676656" y="3694176"/>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ECLIPSE (in-hospital)</a:t>
            </a:r>
            <a:endParaRPr lang="en-US" sz="1050" dirty="0"/>
          </a:p>
        </p:txBody>
      </p:sp>
      <p:sp>
        <p:nvSpPr>
          <p:cNvPr id="30" name="Shape 28"/>
          <p:cNvSpPr/>
          <p:nvPr/>
        </p:nvSpPr>
        <p:spPr>
          <a:xfrm>
            <a:off x="4572000" y="3694176"/>
            <a:ext cx="3657600" cy="512064"/>
          </a:xfrm>
          <a:prstGeom prst="rect">
            <a:avLst/>
          </a:prstGeom>
          <a:solidFill>
            <a:srgbClr val="EEF3F5"/>
          </a:solidFill>
          <a:ln w="9525">
            <a:solidFill>
              <a:srgbClr val="DCE6EA"/>
            </a:solidFill>
            <a:prstDash val="solid"/>
          </a:ln>
        </p:spPr>
      </p:sp>
      <p:sp>
        <p:nvSpPr>
          <p:cNvPr id="31" name="Text 29"/>
          <p:cNvSpPr/>
          <p:nvPr/>
        </p:nvSpPr>
        <p:spPr>
          <a:xfrm>
            <a:off x="4700016" y="3694176"/>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Insurers and billing agents: minimum 10 days after lodgement</a:t>
            </a:r>
            <a:endParaRPr lang="en-US" sz="1050" dirty="0"/>
          </a:p>
        </p:txBody>
      </p:sp>
      <p:sp>
        <p:nvSpPr>
          <p:cNvPr id="32" name="Shape 30"/>
          <p:cNvSpPr/>
          <p:nvPr/>
        </p:nvSpPr>
        <p:spPr>
          <a:xfrm>
            <a:off x="8229600" y="3694176"/>
            <a:ext cx="3383280" cy="512064"/>
          </a:xfrm>
          <a:prstGeom prst="rect">
            <a:avLst/>
          </a:prstGeom>
          <a:solidFill>
            <a:srgbClr val="EEF3F5"/>
          </a:solidFill>
          <a:ln w="9525">
            <a:solidFill>
              <a:srgbClr val="DCE6EA"/>
            </a:solidFill>
            <a:prstDash val="solid"/>
          </a:ln>
        </p:spPr>
      </p:sp>
      <p:sp>
        <p:nvSpPr>
          <p:cNvPr id="33" name="Text 31"/>
          <p:cNvSpPr/>
          <p:nvPr/>
        </p:nvSpPr>
        <p:spPr>
          <a:xfrm>
            <a:off x="8357616" y="3694176"/>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2–3 working days</a:t>
            </a:r>
            <a:endParaRPr lang="en-US" sz="1050" dirty="0"/>
          </a:p>
        </p:txBody>
      </p:sp>
      <p:sp>
        <p:nvSpPr>
          <p:cNvPr id="34" name="Shape 32"/>
          <p:cNvSpPr/>
          <p:nvPr/>
        </p:nvSpPr>
        <p:spPr>
          <a:xfrm>
            <a:off x="548640" y="4206240"/>
            <a:ext cx="4023360" cy="512064"/>
          </a:xfrm>
          <a:prstGeom prst="rect">
            <a:avLst/>
          </a:prstGeom>
          <a:solidFill>
            <a:srgbClr val="FFFFFF"/>
          </a:solidFill>
          <a:ln w="9525">
            <a:solidFill>
              <a:srgbClr val="DCE6EA"/>
            </a:solidFill>
            <a:prstDash val="solid"/>
          </a:ln>
        </p:spPr>
      </p:sp>
      <p:sp>
        <p:nvSpPr>
          <p:cNvPr id="35" name="Text 33"/>
          <p:cNvSpPr/>
          <p:nvPr/>
        </p:nvSpPr>
        <p:spPr>
          <a:xfrm>
            <a:off x="676656" y="4206240"/>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Manual / paper</a:t>
            </a:r>
            <a:endParaRPr lang="en-US" sz="1050" dirty="0"/>
          </a:p>
        </p:txBody>
      </p:sp>
      <p:sp>
        <p:nvSpPr>
          <p:cNvPr id="36" name="Shape 34"/>
          <p:cNvSpPr/>
          <p:nvPr/>
        </p:nvSpPr>
        <p:spPr>
          <a:xfrm>
            <a:off x="4572000" y="4206240"/>
            <a:ext cx="3657600" cy="512064"/>
          </a:xfrm>
          <a:prstGeom prst="rect">
            <a:avLst/>
          </a:prstGeom>
          <a:solidFill>
            <a:srgbClr val="FFFFFF"/>
          </a:solidFill>
          <a:ln w="9525">
            <a:solidFill>
              <a:srgbClr val="DCE6EA"/>
            </a:solidFill>
            <a:prstDash val="solid"/>
          </a:ln>
        </p:spPr>
      </p:sp>
      <p:sp>
        <p:nvSpPr>
          <p:cNvPr id="37" name="Text 35"/>
          <p:cNvSpPr/>
          <p:nvPr/>
        </p:nvSpPr>
        <p:spPr>
          <a:xfrm>
            <a:off x="4700016" y="4206240"/>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No day-count published</a:t>
            </a:r>
            <a:endParaRPr lang="en-US" sz="1050" dirty="0"/>
          </a:p>
        </p:txBody>
      </p:sp>
      <p:sp>
        <p:nvSpPr>
          <p:cNvPr id="38" name="Shape 36"/>
          <p:cNvSpPr/>
          <p:nvPr/>
        </p:nvSpPr>
        <p:spPr>
          <a:xfrm>
            <a:off x="8229600" y="4206240"/>
            <a:ext cx="3383280" cy="512064"/>
          </a:xfrm>
          <a:prstGeom prst="rect">
            <a:avLst/>
          </a:prstGeom>
          <a:solidFill>
            <a:srgbClr val="FFFFFF"/>
          </a:solidFill>
          <a:ln w="9525">
            <a:solidFill>
              <a:srgbClr val="DCE6EA"/>
            </a:solidFill>
            <a:prstDash val="solid"/>
          </a:ln>
        </p:spPr>
      </p:sp>
      <p:sp>
        <p:nvSpPr>
          <p:cNvPr id="39" name="Text 37"/>
          <p:cNvSpPr/>
          <p:nvPr/>
        </p:nvSpPr>
        <p:spPr>
          <a:xfrm>
            <a:off x="8357616" y="4206240"/>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a:t>
            </a:r>
            <a:endParaRPr lang="en-US" sz="1050" dirty="0"/>
          </a:p>
        </p:txBody>
      </p:sp>
      <p:sp>
        <p:nvSpPr>
          <p:cNvPr id="40" name="Shape 38"/>
          <p:cNvSpPr/>
          <p:nvPr/>
        </p:nvSpPr>
        <p:spPr>
          <a:xfrm>
            <a:off x="548640" y="4617720"/>
            <a:ext cx="5486400" cy="1051560"/>
          </a:xfrm>
          <a:prstGeom prst="roundRect">
            <a:avLst>
              <a:gd name="adj" fmla="val 8696"/>
            </a:avLst>
          </a:prstGeom>
          <a:solidFill>
            <a:srgbClr val="EEF3F5"/>
          </a:solidFill>
          <a:ln w="9525">
            <a:solidFill>
              <a:srgbClr val="DCE6EA"/>
            </a:solidFill>
            <a:prstDash val="solid"/>
          </a:ln>
        </p:spPr>
      </p:sp>
      <p:sp>
        <p:nvSpPr>
          <p:cNvPr id="41" name="Text 39"/>
          <p:cNvSpPr/>
          <p:nvPr/>
        </p:nvSpPr>
        <p:spPr>
          <a:xfrm>
            <a:off x="786384" y="4782312"/>
            <a:ext cx="5010912" cy="420624"/>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Assessment ≠ payment</a:t>
            </a:r>
            <a:endParaRPr lang="en-US" sz="1250" dirty="0"/>
          </a:p>
        </p:txBody>
      </p:sp>
      <p:sp>
        <p:nvSpPr>
          <p:cNvPr id="42" name="Text 40"/>
          <p:cNvSpPr/>
          <p:nvPr/>
        </p:nvSpPr>
        <p:spPr>
          <a:xfrm>
            <a:off x="786384" y="5294376"/>
            <a:ext cx="5010912" cy="1920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Claims are typically assessed and the processing and payment reports available about the next business day. The deposit follows in two to three working days.</a:t>
            </a:r>
            <a:endParaRPr lang="en-US" sz="1050" dirty="0"/>
          </a:p>
        </p:txBody>
      </p:sp>
      <p:sp>
        <p:nvSpPr>
          <p:cNvPr id="43" name="Shape 41"/>
          <p:cNvSpPr/>
          <p:nvPr/>
        </p:nvSpPr>
        <p:spPr>
          <a:xfrm>
            <a:off x="6309360" y="4617720"/>
            <a:ext cx="5852160" cy="1051560"/>
          </a:xfrm>
          <a:prstGeom prst="roundRect">
            <a:avLst>
              <a:gd name="adj" fmla="val 8696"/>
            </a:avLst>
          </a:prstGeom>
          <a:solidFill>
            <a:srgbClr val="EEF3F5"/>
          </a:solidFill>
          <a:ln w="9525">
            <a:solidFill>
              <a:srgbClr val="DCE6EA"/>
            </a:solidFill>
            <a:prstDash val="solid"/>
          </a:ln>
        </p:spPr>
      </p:sp>
      <p:sp>
        <p:nvSpPr>
          <p:cNvPr id="44" name="Text 42"/>
          <p:cNvSpPr/>
          <p:nvPr/>
        </p:nvSpPr>
        <p:spPr>
          <a:xfrm>
            <a:off x="6547104" y="4782312"/>
            <a:ext cx="5376672"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Two reports come back</a:t>
            </a:r>
            <a:endParaRPr lang="en-US" sz="1250" dirty="0"/>
          </a:p>
        </p:txBody>
      </p:sp>
      <p:sp>
        <p:nvSpPr>
          <p:cNvPr id="45" name="Text 43"/>
          <p:cNvSpPr/>
          <p:nvPr/>
        </p:nvSpPr>
        <p:spPr>
          <a:xfrm>
            <a:off x="6547104" y="5294376"/>
            <a:ext cx="5376672" cy="1920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A processing report listing any line where paid did not equal claimed, and a payment report consolidating several claims into one deposit.</a:t>
            </a:r>
            <a:endParaRPr lang="en-US" sz="1050" dirty="0"/>
          </a:p>
        </p:txBody>
      </p:sp>
      <p:sp>
        <p:nvSpPr>
          <p:cNvPr id="46" name="Text 44"/>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Services Australia, Progress and payment status of an MBS claim; Best Practice knowledge base. Manual claim timeframe not published.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What one bulk-billed consultation is worth</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A standard metropolitan Level B general practice attendance, from 1 November 2025.</a:t>
            </a:r>
            <a:endParaRPr lang="en-US" sz="1300" dirty="0"/>
          </a:p>
        </p:txBody>
      </p:sp>
      <p:sp>
        <p:nvSpPr>
          <p:cNvPr id="4" name="Shape 2"/>
          <p:cNvSpPr/>
          <p:nvPr/>
        </p:nvSpPr>
        <p:spPr>
          <a:xfrm>
            <a:off x="548640" y="1700784"/>
            <a:ext cx="3401568" cy="1874520"/>
          </a:xfrm>
          <a:prstGeom prst="roundRect">
            <a:avLst>
              <a:gd name="adj" fmla="val 4878"/>
            </a:avLst>
          </a:prstGeom>
          <a:solidFill>
            <a:srgbClr val="EEF3F5"/>
          </a:solidFill>
          <a:ln w="9525">
            <a:solidFill>
              <a:srgbClr val="DCE6EA"/>
            </a:solidFill>
            <a:prstDash val="solid"/>
          </a:ln>
        </p:spPr>
      </p:sp>
      <p:sp>
        <p:nvSpPr>
          <p:cNvPr id="5" name="Text 3"/>
          <p:cNvSpPr/>
          <p:nvPr/>
        </p:nvSpPr>
        <p:spPr>
          <a:xfrm>
            <a:off x="804672" y="1865376"/>
            <a:ext cx="2889504" cy="65836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$45.05</a:t>
            </a:r>
            <a:endParaRPr lang="en-US" sz="3400" dirty="0"/>
          </a:p>
        </p:txBody>
      </p:sp>
      <p:sp>
        <p:nvSpPr>
          <p:cNvPr id="6" name="Text 4"/>
          <p:cNvSpPr/>
          <p:nvPr/>
        </p:nvSpPr>
        <p:spPr>
          <a:xfrm>
            <a:off x="804672" y="2560320"/>
            <a:ext cx="2889504" cy="91440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MBS item 23 — Level B attendance under 20 minutes. Bulk-billed attendances attract 100% of the schedule fee.</a:t>
            </a:r>
            <a:endParaRPr lang="en-US" sz="1050" dirty="0"/>
          </a:p>
        </p:txBody>
      </p:sp>
      <p:sp>
        <p:nvSpPr>
          <p:cNvPr id="7" name="Shape 5"/>
          <p:cNvSpPr/>
          <p:nvPr/>
        </p:nvSpPr>
        <p:spPr>
          <a:xfrm>
            <a:off x="4407408" y="1700784"/>
            <a:ext cx="3401568" cy="1874520"/>
          </a:xfrm>
          <a:prstGeom prst="roundRect">
            <a:avLst>
              <a:gd name="adj" fmla="val 4878"/>
            </a:avLst>
          </a:prstGeom>
          <a:solidFill>
            <a:srgbClr val="EEF3F5"/>
          </a:solidFill>
          <a:ln w="9525">
            <a:solidFill>
              <a:srgbClr val="DCE6EA"/>
            </a:solidFill>
            <a:prstDash val="solid"/>
          </a:ln>
        </p:spPr>
      </p:sp>
      <p:sp>
        <p:nvSpPr>
          <p:cNvPr id="8" name="Text 6"/>
          <p:cNvSpPr/>
          <p:nvPr/>
        </p:nvSpPr>
        <p:spPr>
          <a:xfrm>
            <a:off x="4663440" y="1865376"/>
            <a:ext cx="2889504" cy="658368"/>
          </a:xfrm>
          <a:prstGeom prst="rect">
            <a:avLst/>
          </a:prstGeom>
          <a:noFill/>
          <a:ln/>
        </p:spPr>
        <p:txBody>
          <a:bodyPr wrap="square" lIns="0" tIns="0" rIns="0" bIns="0" rtlCol="0" anchor="ctr"/>
          <a:lstStyle/>
          <a:p>
            <a:pPr indent="0" marL="0">
              <a:buNone/>
            </a:pPr>
            <a:r>
              <a:rPr lang="en-US" sz="3400" b="1" dirty="0">
                <a:solidFill>
                  <a:srgbClr val="C97B1E"/>
                </a:solidFill>
                <a:latin typeface="Cambria" pitchFamily="34" charset="0"/>
                <a:ea typeface="Cambria" pitchFamily="34" charset="-122"/>
                <a:cs typeface="Cambria" pitchFamily="34" charset="-120"/>
              </a:rPr>
              <a:t>$20.65</a:t>
            </a:r>
            <a:endParaRPr lang="en-US" sz="3400" dirty="0"/>
          </a:p>
        </p:txBody>
      </p:sp>
      <p:sp>
        <p:nvSpPr>
          <p:cNvPr id="9" name="Text 7"/>
          <p:cNvSpPr/>
          <p:nvPr/>
        </p:nvSpPr>
        <p:spPr>
          <a:xfrm>
            <a:off x="4663440" y="2560320"/>
            <a:ext cx="2889504" cy="91440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Bulk billing incentive, metropolitan. Tripled from $6.85 in November 2023, and scaled up to 190% in the most remote areas.</a:t>
            </a:r>
            <a:endParaRPr lang="en-US" sz="1050" dirty="0"/>
          </a:p>
        </p:txBody>
      </p:sp>
      <p:sp>
        <p:nvSpPr>
          <p:cNvPr id="10" name="Shape 8"/>
          <p:cNvSpPr/>
          <p:nvPr/>
        </p:nvSpPr>
        <p:spPr>
          <a:xfrm>
            <a:off x="8266176" y="1700784"/>
            <a:ext cx="3401568" cy="1874520"/>
          </a:xfrm>
          <a:prstGeom prst="roundRect">
            <a:avLst>
              <a:gd name="adj" fmla="val 4878"/>
            </a:avLst>
          </a:prstGeom>
          <a:solidFill>
            <a:srgbClr val="EEF3F5"/>
          </a:solidFill>
          <a:ln w="9525">
            <a:solidFill>
              <a:srgbClr val="DCE6EA"/>
            </a:solidFill>
            <a:prstDash val="solid"/>
          </a:ln>
        </p:spPr>
      </p:sp>
      <p:sp>
        <p:nvSpPr>
          <p:cNvPr id="11" name="Text 9"/>
          <p:cNvSpPr/>
          <p:nvPr/>
        </p:nvSpPr>
        <p:spPr>
          <a:xfrm>
            <a:off x="8522208" y="1865376"/>
            <a:ext cx="2889504" cy="658368"/>
          </a:xfrm>
          <a:prstGeom prst="rect">
            <a:avLst/>
          </a:prstGeom>
          <a:noFill/>
          <a:ln/>
        </p:spPr>
        <p:txBody>
          <a:bodyPr wrap="square" lIns="0" tIns="0" rIns="0" bIns="0" rtlCol="0" anchor="ctr"/>
          <a:lstStyle/>
          <a:p>
            <a:pPr indent="0" marL="0">
              <a:buNone/>
            </a:pPr>
            <a:r>
              <a:rPr lang="en-US" sz="3400" b="1" dirty="0">
                <a:solidFill>
                  <a:srgbClr val="3F7D5C"/>
                </a:solidFill>
                <a:latin typeface="Cambria" pitchFamily="34" charset="0"/>
                <a:ea typeface="Cambria" pitchFamily="34" charset="-122"/>
                <a:cs typeface="Cambria" pitchFamily="34" charset="-120"/>
              </a:rPr>
              <a:t>+12.5%</a:t>
            </a:r>
            <a:endParaRPr lang="en-US" sz="3400" dirty="0"/>
          </a:p>
        </p:txBody>
      </p:sp>
      <p:sp>
        <p:nvSpPr>
          <p:cNvPr id="12" name="Text 10"/>
          <p:cNvSpPr/>
          <p:nvPr/>
        </p:nvSpPr>
        <p:spPr>
          <a:xfrm>
            <a:off x="8522208" y="2560320"/>
            <a:ext cx="2889504" cy="91440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Practice incentive loading on eligible bulk-billed benefits, for fully bulk-billing MyMedicare practices. Paid in arrears.</a:t>
            </a:r>
            <a:endParaRPr lang="en-US" sz="1050" dirty="0"/>
          </a:p>
        </p:txBody>
      </p:sp>
      <p:sp>
        <p:nvSpPr>
          <p:cNvPr id="13" name="Shape 11"/>
          <p:cNvSpPr/>
          <p:nvPr/>
        </p:nvSpPr>
        <p:spPr>
          <a:xfrm>
            <a:off x="548640" y="3840480"/>
            <a:ext cx="11064240" cy="914400"/>
          </a:xfrm>
          <a:prstGeom prst="roundRect">
            <a:avLst>
              <a:gd name="adj" fmla="val 10000"/>
            </a:avLst>
          </a:prstGeom>
          <a:solidFill>
            <a:srgbClr val="FFFFFF"/>
          </a:solidFill>
          <a:ln w="19050">
            <a:solidFill>
              <a:srgbClr val="1C7293"/>
            </a:solidFill>
            <a:prstDash val="solid"/>
          </a:ln>
        </p:spPr>
      </p:sp>
      <p:sp>
        <p:nvSpPr>
          <p:cNvPr id="14" name="Text 12"/>
          <p:cNvSpPr/>
          <p:nvPr/>
        </p:nvSpPr>
        <p:spPr>
          <a:xfrm>
            <a:off x="841248" y="3840480"/>
            <a:ext cx="10479024" cy="91440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So roughly $65.70 before the practice loading — and none of it can be claimed without a valid assignment of benefit.</a:t>
            </a:r>
            <a:endParaRPr lang="en-US" sz="1400" dirty="0"/>
          </a:p>
        </p:txBody>
      </p:sp>
      <p:sp>
        <p:nvSpPr>
          <p:cNvPr id="15" name="Text 13"/>
          <p:cNvSpPr/>
          <p:nvPr/>
        </p:nvSpPr>
        <p:spPr>
          <a:xfrm>
            <a:off x="548640" y="4919472"/>
            <a:ext cx="3401568" cy="45720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480.6m</a:t>
            </a:r>
            <a:endParaRPr lang="en-US" sz="2200" dirty="0"/>
          </a:p>
        </p:txBody>
      </p:sp>
      <p:sp>
        <p:nvSpPr>
          <p:cNvPr id="16" name="Text 14"/>
          <p:cNvSpPr/>
          <p:nvPr/>
        </p:nvSpPr>
        <p:spPr>
          <a:xfrm>
            <a:off x="548640" y="5358384"/>
            <a:ext cx="3401568" cy="548640"/>
          </a:xfrm>
          <a:prstGeom prst="rect">
            <a:avLst/>
          </a:prstGeom>
          <a:noFill/>
          <a:ln/>
        </p:spPr>
        <p:txBody>
          <a:bodyPr wrap="square" lIns="0" tIns="0" rIns="0" bIns="0" rtlCol="0" anchor="ctr"/>
          <a:lstStyle/>
          <a:p>
            <a:pPr indent="0" marL="0">
              <a:buNone/>
            </a:pPr>
            <a:r>
              <a:rPr lang="en-US" sz="1000" dirty="0">
                <a:solidFill>
                  <a:srgbClr val="33454C"/>
                </a:solidFill>
                <a:latin typeface="Calibri" pitchFamily="34" charset="0"/>
                <a:ea typeface="Calibri" pitchFamily="34" charset="-122"/>
                <a:cs typeface="Calibri" pitchFamily="34" charset="-120"/>
              </a:rPr>
              <a:t>Medicare items processed in 2024-25, 479.6m of them through digital channels</a:t>
            </a:r>
            <a:endParaRPr lang="en-US" sz="1000" dirty="0"/>
          </a:p>
        </p:txBody>
      </p:sp>
      <p:sp>
        <p:nvSpPr>
          <p:cNvPr id="17" name="Text 15"/>
          <p:cNvSpPr/>
          <p:nvPr/>
        </p:nvSpPr>
        <p:spPr>
          <a:xfrm>
            <a:off x="4407408" y="4919472"/>
            <a:ext cx="3401568" cy="45720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511m</a:t>
            </a:r>
            <a:endParaRPr lang="en-US" sz="2200" dirty="0"/>
          </a:p>
        </p:txBody>
      </p:sp>
      <p:sp>
        <p:nvSpPr>
          <p:cNvPr id="18" name="Text 16"/>
          <p:cNvSpPr/>
          <p:nvPr/>
        </p:nvSpPr>
        <p:spPr>
          <a:xfrm>
            <a:off x="4407408" y="5358384"/>
            <a:ext cx="3401568" cy="548640"/>
          </a:xfrm>
          <a:prstGeom prst="rect">
            <a:avLst/>
          </a:prstGeom>
          <a:noFill/>
          <a:ln/>
        </p:spPr>
        <p:txBody>
          <a:bodyPr wrap="square" lIns="0" tIns="0" rIns="0" bIns="0" rtlCol="0" anchor="ctr"/>
          <a:lstStyle/>
          <a:p>
            <a:pPr indent="0" marL="0">
              <a:buNone/>
            </a:pPr>
            <a:r>
              <a:rPr lang="en-US" sz="1000" dirty="0">
                <a:solidFill>
                  <a:srgbClr val="33454C"/>
                </a:solidFill>
                <a:latin typeface="Calibri" pitchFamily="34" charset="0"/>
                <a:ea typeface="Calibri" pitchFamily="34" charset="-122"/>
                <a:cs typeface="Calibri" pitchFamily="34" charset="-120"/>
              </a:rPr>
              <a:t>claim transactions a year across 176,000 claiming practitioners</a:t>
            </a:r>
            <a:endParaRPr lang="en-US" sz="1000" dirty="0"/>
          </a:p>
        </p:txBody>
      </p:sp>
      <p:sp>
        <p:nvSpPr>
          <p:cNvPr id="19" name="Text 17"/>
          <p:cNvSpPr/>
          <p:nvPr/>
        </p:nvSpPr>
        <p:spPr>
          <a:xfrm>
            <a:off x="8266176" y="4919472"/>
            <a:ext cx="3401568" cy="45720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$1.67bn</a:t>
            </a:r>
            <a:endParaRPr lang="en-US" sz="2200" dirty="0"/>
          </a:p>
        </p:txBody>
      </p:sp>
      <p:sp>
        <p:nvSpPr>
          <p:cNvPr id="20" name="Text 18"/>
          <p:cNvSpPr/>
          <p:nvPr/>
        </p:nvSpPr>
        <p:spPr>
          <a:xfrm>
            <a:off x="8266176" y="5358384"/>
            <a:ext cx="3401568" cy="548640"/>
          </a:xfrm>
          <a:prstGeom prst="rect">
            <a:avLst/>
          </a:prstGeom>
          <a:noFill/>
          <a:ln/>
        </p:spPr>
        <p:txBody>
          <a:bodyPr wrap="square" lIns="0" tIns="0" rIns="0" bIns="0" rtlCol="0" anchor="ctr"/>
          <a:lstStyle/>
          <a:p>
            <a:pPr indent="0" marL="0">
              <a:buNone/>
            </a:pPr>
            <a:r>
              <a:rPr lang="en-US" sz="1000" dirty="0">
                <a:solidFill>
                  <a:srgbClr val="33454C"/>
                </a:solidFill>
                <a:latin typeface="Calibri" pitchFamily="34" charset="0"/>
                <a:ea typeface="Calibri" pitchFamily="34" charset="-122"/>
                <a:cs typeface="Calibri" pitchFamily="34" charset="-120"/>
              </a:rPr>
              <a:t>patient out-of-pocket costs in 2023-24, up from $780m in 2020-21</a:t>
            </a:r>
            <a:endParaRPr lang="en-US" sz="1000" dirty="0"/>
          </a:p>
        </p:txBody>
      </p:sp>
      <p:sp>
        <p:nvSpPr>
          <p:cNvPr id="21" name="Text 19"/>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MBS item 23 fee as at 1 July 2026; AMA bulk billing incentive summary; Services Australia Annual Report 2024-25; Philip Review. The $65.70 total is arithmetic on sourced components.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The clocks that matter</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Six deadlines. Miss the first and the item is simply unbillable.</a:t>
            </a:r>
            <a:endParaRPr lang="en-US" sz="1300" dirty="0"/>
          </a:p>
        </p:txBody>
      </p:sp>
      <p:sp>
        <p:nvSpPr>
          <p:cNvPr id="4" name="Shape 2"/>
          <p:cNvSpPr/>
          <p:nvPr/>
        </p:nvSpPr>
        <p:spPr>
          <a:xfrm>
            <a:off x="548640" y="1664208"/>
            <a:ext cx="3511296" cy="1828800"/>
          </a:xfrm>
          <a:prstGeom prst="roundRect">
            <a:avLst>
              <a:gd name="adj" fmla="val 5000"/>
            </a:avLst>
          </a:prstGeom>
          <a:solidFill>
            <a:srgbClr val="FFFFFF"/>
          </a:solidFill>
          <a:ln w="19050">
            <a:solidFill>
              <a:srgbClr val="B23A26"/>
            </a:solidFill>
            <a:prstDash val="solid"/>
          </a:ln>
        </p:spPr>
      </p:sp>
      <p:sp>
        <p:nvSpPr>
          <p:cNvPr id="5" name="Text 3"/>
          <p:cNvSpPr/>
          <p:nvPr/>
        </p:nvSpPr>
        <p:spPr>
          <a:xfrm>
            <a:off x="786384" y="1828800"/>
            <a:ext cx="3035808" cy="502920"/>
          </a:xfrm>
          <a:prstGeom prst="rect">
            <a:avLst/>
          </a:prstGeom>
          <a:noFill/>
          <a:ln/>
        </p:spPr>
        <p:txBody>
          <a:bodyPr wrap="square" lIns="0" tIns="0" rIns="0" bIns="0" rtlCol="0" anchor="ctr"/>
          <a:lstStyle/>
          <a:p>
            <a:pPr indent="0" marL="0">
              <a:buNone/>
            </a:pPr>
            <a:r>
              <a:rPr lang="en-US" sz="2400" b="1" dirty="0">
                <a:solidFill>
                  <a:srgbClr val="B23A26"/>
                </a:solidFill>
                <a:latin typeface="Cambria" pitchFamily="34" charset="0"/>
                <a:ea typeface="Cambria" pitchFamily="34" charset="-122"/>
                <a:cs typeface="Cambria" pitchFamily="34" charset="-120"/>
              </a:rPr>
              <a:t>1 year</a:t>
            </a:r>
            <a:endParaRPr lang="en-US" sz="2400" dirty="0"/>
          </a:p>
        </p:txBody>
      </p:sp>
      <p:sp>
        <p:nvSpPr>
          <p:cNvPr id="6" name="Text 4"/>
          <p:cNvSpPr/>
          <p:nvPr/>
        </p:nvSpPr>
        <p:spPr>
          <a:xfrm>
            <a:off x="786384" y="235915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To lodge a bulk-billed claim. Reduced from 2 years on 5 September 2025 for items rendered on or after that date. Ministerial discretion for late claims is retained.</a:t>
            </a:r>
            <a:endParaRPr lang="en-US" sz="1050" dirty="0"/>
          </a:p>
        </p:txBody>
      </p:sp>
      <p:sp>
        <p:nvSpPr>
          <p:cNvPr id="7" name="Shape 5"/>
          <p:cNvSpPr/>
          <p:nvPr/>
        </p:nvSpPr>
        <p:spPr>
          <a:xfrm>
            <a:off x="4279392" y="1664208"/>
            <a:ext cx="3511296" cy="1828800"/>
          </a:xfrm>
          <a:prstGeom prst="roundRect">
            <a:avLst>
              <a:gd name="adj" fmla="val 5000"/>
            </a:avLst>
          </a:prstGeom>
          <a:solidFill>
            <a:srgbClr val="FFFFFF"/>
          </a:solidFill>
          <a:ln w="19050">
            <a:solidFill>
              <a:srgbClr val="0B3C49"/>
            </a:solidFill>
            <a:prstDash val="solid"/>
          </a:ln>
        </p:spPr>
      </p:sp>
      <p:sp>
        <p:nvSpPr>
          <p:cNvPr id="8" name="Text 6"/>
          <p:cNvSpPr/>
          <p:nvPr/>
        </p:nvSpPr>
        <p:spPr>
          <a:xfrm>
            <a:off x="4517136" y="1828800"/>
            <a:ext cx="3035808" cy="502920"/>
          </a:xfrm>
          <a:prstGeom prst="rect">
            <a:avLst/>
          </a:prstGeom>
          <a:noFill/>
          <a:ln/>
        </p:spPr>
        <p:txBody>
          <a:bodyPr wrap="square" lIns="0" tIns="0" rIns="0" bIns="0" rtlCol="0" anchor="ctr"/>
          <a:lstStyle/>
          <a:p>
            <a:pPr indent="0" marL="0">
              <a:buNone/>
            </a:pPr>
            <a:r>
              <a:rPr lang="en-US" sz="2400" b="1" dirty="0">
                <a:solidFill>
                  <a:srgbClr val="0B3C49"/>
                </a:solidFill>
                <a:latin typeface="Cambria" pitchFamily="34" charset="0"/>
                <a:ea typeface="Cambria" pitchFamily="34" charset="-122"/>
                <a:cs typeface="Cambria" pitchFamily="34" charset="-120"/>
              </a:rPr>
              <a:t>2 years</a:t>
            </a:r>
            <a:endParaRPr lang="en-US" sz="2400" dirty="0"/>
          </a:p>
        </p:txBody>
      </p:sp>
      <p:sp>
        <p:nvSpPr>
          <p:cNvPr id="9" name="Text 7"/>
          <p:cNvSpPr/>
          <p:nvPr/>
        </p:nvSpPr>
        <p:spPr>
          <a:xfrm>
            <a:off x="4517136" y="235915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To retain the completed assignment of benefit agreement, and to produce it on request.</a:t>
            </a:r>
            <a:endParaRPr lang="en-US" sz="1050" dirty="0"/>
          </a:p>
        </p:txBody>
      </p:sp>
      <p:sp>
        <p:nvSpPr>
          <p:cNvPr id="10" name="Shape 8"/>
          <p:cNvSpPr/>
          <p:nvPr/>
        </p:nvSpPr>
        <p:spPr>
          <a:xfrm>
            <a:off x="8010144" y="1664208"/>
            <a:ext cx="3511296" cy="1828800"/>
          </a:xfrm>
          <a:prstGeom prst="roundRect">
            <a:avLst>
              <a:gd name="adj" fmla="val 5000"/>
            </a:avLst>
          </a:prstGeom>
          <a:solidFill>
            <a:srgbClr val="FFFFFF"/>
          </a:solidFill>
          <a:ln w="19050">
            <a:solidFill>
              <a:srgbClr val="C97B1E"/>
            </a:solidFill>
            <a:prstDash val="solid"/>
          </a:ln>
        </p:spPr>
      </p:sp>
      <p:sp>
        <p:nvSpPr>
          <p:cNvPr id="11" name="Text 9"/>
          <p:cNvSpPr/>
          <p:nvPr/>
        </p:nvSpPr>
        <p:spPr>
          <a:xfrm>
            <a:off x="8247888" y="1828800"/>
            <a:ext cx="3035808" cy="502920"/>
          </a:xfrm>
          <a:prstGeom prst="rect">
            <a:avLst/>
          </a:prstGeom>
          <a:noFill/>
          <a:ln/>
        </p:spPr>
        <p:txBody>
          <a:bodyPr wrap="square" lIns="0" tIns="0" rIns="0" bIns="0" rtlCol="0" anchor="ctr"/>
          <a:lstStyle/>
          <a:p>
            <a:pPr indent="0" marL="0">
              <a:buNone/>
            </a:pPr>
            <a:r>
              <a:rPr lang="en-US" sz="2400" b="1" dirty="0">
                <a:solidFill>
                  <a:srgbClr val="C97B1E"/>
                </a:solidFill>
                <a:latin typeface="Cambria" pitchFamily="34" charset="0"/>
                <a:ea typeface="Cambria" pitchFamily="34" charset="-122"/>
                <a:cs typeface="Cambria" pitchFamily="34" charset="-120"/>
              </a:rPr>
              <a:t>24 hours</a:t>
            </a:r>
            <a:endParaRPr lang="en-US" sz="2400" dirty="0"/>
          </a:p>
        </p:txBody>
      </p:sp>
      <p:sp>
        <p:nvSpPr>
          <p:cNvPr id="12" name="Text 10"/>
          <p:cNvSpPr/>
          <p:nvPr/>
        </p:nvSpPr>
        <p:spPr>
          <a:xfrm>
            <a:off x="8247888" y="235915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To notify the assignor after a claim under a MyMedicare enduring agreement. Four mandatory elements, by the method named in the agreement.</a:t>
            </a:r>
            <a:endParaRPr lang="en-US" sz="1050" dirty="0"/>
          </a:p>
        </p:txBody>
      </p:sp>
      <p:sp>
        <p:nvSpPr>
          <p:cNvPr id="13" name="Shape 11"/>
          <p:cNvSpPr/>
          <p:nvPr/>
        </p:nvSpPr>
        <p:spPr>
          <a:xfrm>
            <a:off x="548640" y="3675888"/>
            <a:ext cx="3511296" cy="1828800"/>
          </a:xfrm>
          <a:prstGeom prst="roundRect">
            <a:avLst>
              <a:gd name="adj" fmla="val 5000"/>
            </a:avLst>
          </a:prstGeom>
          <a:solidFill>
            <a:srgbClr val="FFFFFF"/>
          </a:solidFill>
          <a:ln w="19050">
            <a:solidFill>
              <a:srgbClr val="6B4A7A"/>
            </a:solidFill>
            <a:prstDash val="solid"/>
          </a:ln>
        </p:spPr>
      </p:sp>
      <p:sp>
        <p:nvSpPr>
          <p:cNvPr id="14" name="Text 12"/>
          <p:cNvSpPr/>
          <p:nvPr/>
        </p:nvSpPr>
        <p:spPr>
          <a:xfrm>
            <a:off x="786384" y="3840480"/>
            <a:ext cx="3035808" cy="502920"/>
          </a:xfrm>
          <a:prstGeom prst="rect">
            <a:avLst/>
          </a:prstGeom>
          <a:noFill/>
          <a:ln/>
        </p:spPr>
        <p:txBody>
          <a:bodyPr wrap="square" lIns="0" tIns="0" rIns="0" bIns="0" rtlCol="0" anchor="ctr"/>
          <a:lstStyle/>
          <a:p>
            <a:pPr indent="0" marL="0">
              <a:buNone/>
            </a:pPr>
            <a:r>
              <a:rPr lang="en-US" sz="2400" b="1" dirty="0">
                <a:solidFill>
                  <a:srgbClr val="6B4A7A"/>
                </a:solidFill>
                <a:latin typeface="Cambria" pitchFamily="34" charset="0"/>
                <a:ea typeface="Cambria" pitchFamily="34" charset="-122"/>
                <a:cs typeface="Cambria" pitchFamily="34" charset="-120"/>
              </a:rPr>
              <a:t>2 business days</a:t>
            </a:r>
            <a:endParaRPr lang="en-US" sz="2400" dirty="0"/>
          </a:p>
        </p:txBody>
      </p:sp>
      <p:sp>
        <p:nvSpPr>
          <p:cNvPr id="15" name="Text 13"/>
          <p:cNvSpPr/>
          <p:nvPr/>
        </p:nvSpPr>
        <p:spPr>
          <a:xfrm>
            <a:off x="786384" y="437083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Before an enduring agreement ends, once written notice is given. A practitioner must give at least 2 days notice.</a:t>
            </a:r>
            <a:endParaRPr lang="en-US" sz="1050" dirty="0"/>
          </a:p>
        </p:txBody>
      </p:sp>
      <p:sp>
        <p:nvSpPr>
          <p:cNvPr id="16" name="Shape 14"/>
          <p:cNvSpPr/>
          <p:nvPr/>
        </p:nvSpPr>
        <p:spPr>
          <a:xfrm>
            <a:off x="4279392" y="3675888"/>
            <a:ext cx="3511296" cy="1828800"/>
          </a:xfrm>
          <a:prstGeom prst="roundRect">
            <a:avLst>
              <a:gd name="adj" fmla="val 5000"/>
            </a:avLst>
          </a:prstGeom>
          <a:solidFill>
            <a:srgbClr val="FFFFFF"/>
          </a:solidFill>
          <a:ln w="19050">
            <a:solidFill>
              <a:srgbClr val="1C7293"/>
            </a:solidFill>
            <a:prstDash val="solid"/>
          </a:ln>
        </p:spPr>
      </p:sp>
      <p:sp>
        <p:nvSpPr>
          <p:cNvPr id="17" name="Text 15"/>
          <p:cNvSpPr/>
          <p:nvPr/>
        </p:nvSpPr>
        <p:spPr>
          <a:xfrm>
            <a:off x="4517136" y="3840480"/>
            <a:ext cx="3035808" cy="50292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2–3 working days</a:t>
            </a:r>
            <a:endParaRPr lang="en-US" sz="2400" dirty="0"/>
          </a:p>
        </p:txBody>
      </p:sp>
      <p:sp>
        <p:nvSpPr>
          <p:cNvPr id="18" name="Text 16"/>
          <p:cNvSpPr/>
          <p:nvPr/>
        </p:nvSpPr>
        <p:spPr>
          <a:xfrm>
            <a:off x="4517136" y="437083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From lodgement to money in the practice account, on the common channels.</a:t>
            </a:r>
            <a:endParaRPr lang="en-US" sz="1050" dirty="0"/>
          </a:p>
        </p:txBody>
      </p:sp>
      <p:sp>
        <p:nvSpPr>
          <p:cNvPr id="19" name="Shape 17"/>
          <p:cNvSpPr/>
          <p:nvPr/>
        </p:nvSpPr>
        <p:spPr>
          <a:xfrm>
            <a:off x="8010144" y="3675888"/>
            <a:ext cx="3511296" cy="1828800"/>
          </a:xfrm>
          <a:prstGeom prst="roundRect">
            <a:avLst>
              <a:gd name="adj" fmla="val 5000"/>
            </a:avLst>
          </a:prstGeom>
          <a:solidFill>
            <a:srgbClr val="FFFFFF"/>
          </a:solidFill>
          <a:ln w="19050">
            <a:solidFill>
              <a:srgbClr val="3F7D5C"/>
            </a:solidFill>
            <a:prstDash val="solid"/>
          </a:ln>
        </p:spPr>
      </p:sp>
      <p:sp>
        <p:nvSpPr>
          <p:cNvPr id="20" name="Text 18"/>
          <p:cNvSpPr/>
          <p:nvPr/>
        </p:nvSpPr>
        <p:spPr>
          <a:xfrm>
            <a:off x="8247888" y="3840480"/>
            <a:ext cx="3035808" cy="502920"/>
          </a:xfrm>
          <a:prstGeom prst="rect">
            <a:avLst/>
          </a:prstGeom>
          <a:noFill/>
          <a:ln/>
        </p:spPr>
        <p:txBody>
          <a:bodyPr wrap="square" lIns="0" tIns="0" rIns="0" bIns="0" rtlCol="0" anchor="ctr"/>
          <a:lstStyle/>
          <a:p>
            <a:pPr indent="0" marL="0">
              <a:buNone/>
            </a:pPr>
            <a:r>
              <a:rPr lang="en-US" sz="2400" b="1" dirty="0">
                <a:solidFill>
                  <a:srgbClr val="3F7D5C"/>
                </a:solidFill>
                <a:latin typeface="Cambria" pitchFamily="34" charset="0"/>
                <a:ea typeface="Cambria" pitchFamily="34" charset="-122"/>
                <a:cs typeface="Cambria" pitchFamily="34" charset="-120"/>
              </a:rPr>
              <a:t>12 months</a:t>
            </a:r>
            <a:endParaRPr lang="en-US" sz="2400" dirty="0"/>
          </a:p>
        </p:txBody>
      </p:sp>
      <p:sp>
        <p:nvSpPr>
          <p:cNvPr id="21" name="Text 19"/>
          <p:cNvSpPr/>
          <p:nvPr/>
        </p:nvSpPr>
        <p:spPr>
          <a:xfrm>
            <a:off x="8247888" y="437083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Until the verbal fallback closes on 30 June 2027 — and, separately, the anniversary by which an enduring agreement must be recorded with Services Australia.</a:t>
            </a:r>
            <a:endParaRPr lang="en-US" sz="1050" dirty="0"/>
          </a:p>
        </p:txBody>
      </p:sp>
      <p:sp>
        <p:nvSpPr>
          <p:cNvPr id="22" name="Text 20"/>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Health Legislation Amendment (Improved Medicare Integrity and Other Measures) Act 2025; Health Insurance Regulations 2018 Div 7A; reg 89AA.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How Services Australia checks a claim — before payment</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The assessing engine is the oldest part of the system, and it was never designed for this.</a:t>
            </a:r>
            <a:endParaRPr lang="en-US" sz="1300" dirty="0"/>
          </a:p>
        </p:txBody>
      </p:sp>
      <p:sp>
        <p:nvSpPr>
          <p:cNvPr id="4" name="Shape 2"/>
          <p:cNvSpPr/>
          <p:nvPr/>
        </p:nvSpPr>
        <p:spPr>
          <a:xfrm>
            <a:off x="548640" y="1645920"/>
            <a:ext cx="5577840" cy="2331720"/>
          </a:xfrm>
          <a:prstGeom prst="roundRect">
            <a:avLst>
              <a:gd name="adj" fmla="val 3922"/>
            </a:avLst>
          </a:prstGeom>
          <a:solidFill>
            <a:srgbClr val="EEF3F5"/>
          </a:solidFill>
          <a:ln w="9525">
            <a:solidFill>
              <a:srgbClr val="DCE6EA"/>
            </a:solidFill>
            <a:prstDash val="solid"/>
          </a:ln>
        </p:spPr>
      </p:sp>
      <p:sp>
        <p:nvSpPr>
          <p:cNvPr id="5" name="Text 3"/>
          <p:cNvSpPr/>
          <p:nvPr/>
        </p:nvSpPr>
        <p:spPr>
          <a:xfrm>
            <a:off x="822960" y="1773936"/>
            <a:ext cx="5029200" cy="347472"/>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What it does check</a:t>
            </a:r>
            <a:endParaRPr lang="en-US" sz="1400" dirty="0"/>
          </a:p>
        </p:txBody>
      </p:sp>
      <p:sp>
        <p:nvSpPr>
          <p:cNvPr id="6" name="Text 4"/>
          <p:cNvSpPr/>
          <p:nvPr/>
        </p:nvSpPr>
        <p:spPr>
          <a:xfrm>
            <a:off x="822960" y="2176272"/>
            <a:ext cx="5029200" cy="16916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Claim initial validation — is the claim well formed</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Line-by-line validation — patient eligibility, provider authorisation for the channel, whether a benefit is payable for the item</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Interline validation — conflicts between items in the same claim, same-day and co-claiming rules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Frequency caps, duplicate item detection, referral or request present</a:t>
            </a:r>
            <a:endParaRPr lang="en-US" sz="1050" dirty="0"/>
          </a:p>
        </p:txBody>
      </p:sp>
      <p:sp>
        <p:nvSpPr>
          <p:cNvPr id="7" name="Shape 5"/>
          <p:cNvSpPr/>
          <p:nvPr/>
        </p:nvSpPr>
        <p:spPr>
          <a:xfrm>
            <a:off x="6492240" y="1645920"/>
            <a:ext cx="5669280" cy="2331720"/>
          </a:xfrm>
          <a:prstGeom prst="roundRect">
            <a:avLst>
              <a:gd name="adj" fmla="val 3922"/>
            </a:avLst>
          </a:prstGeom>
          <a:solidFill>
            <a:srgbClr val="FBEDEA"/>
          </a:solidFill>
          <a:ln w="19050">
            <a:solidFill>
              <a:srgbClr val="B23A26"/>
            </a:solidFill>
            <a:prstDash val="solid"/>
          </a:ln>
        </p:spPr>
      </p:sp>
      <p:sp>
        <p:nvSpPr>
          <p:cNvPr id="8" name="Text 6"/>
          <p:cNvSpPr/>
          <p:nvPr/>
        </p:nvSpPr>
        <p:spPr>
          <a:xfrm>
            <a:off x="6766560" y="1773936"/>
            <a:ext cx="5120640" cy="347472"/>
          </a:xfrm>
          <a:prstGeom prst="rect">
            <a:avLst/>
          </a:prstGeom>
          <a:noFill/>
          <a:ln/>
        </p:spPr>
        <p:txBody>
          <a:bodyPr wrap="square" lIns="0" tIns="0" rIns="0" bIns="0" rtlCol="0" anchor="ctr"/>
          <a:lstStyle/>
          <a:p>
            <a:pPr indent="0" marL="0">
              <a:buNone/>
            </a:pPr>
            <a:r>
              <a:rPr lang="en-US" sz="1400" b="1" dirty="0">
                <a:solidFill>
                  <a:srgbClr val="B23A26"/>
                </a:solidFill>
                <a:latin typeface="Calibri" pitchFamily="34" charset="0"/>
                <a:ea typeface="Calibri" pitchFamily="34" charset="-122"/>
                <a:cs typeface="Calibri" pitchFamily="34" charset="-120"/>
              </a:rPr>
              <a:t>What it cannot do</a:t>
            </a:r>
            <a:endParaRPr lang="en-US" sz="1400" dirty="0"/>
          </a:p>
        </p:txBody>
      </p:sp>
      <p:sp>
        <p:nvSpPr>
          <p:cNvPr id="9" name="Text 7"/>
          <p:cNvSpPr/>
          <p:nvPr/>
        </p:nvSpPr>
        <p:spPr>
          <a:xfrm>
            <a:off x="6766560" y="2176272"/>
            <a:ext cx="5120640" cy="1005840"/>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The Philip Review found the technology behind the Medicare Common Assessing Engine "has been in place since the inception of the Scheme" — about forty years — and that it "does not readily allow for the application of soft blocks and matching to provider identity details."</a:t>
            </a:r>
            <a:endParaRPr lang="en-US" sz="1100" dirty="0"/>
          </a:p>
        </p:txBody>
      </p:sp>
      <p:sp>
        <p:nvSpPr>
          <p:cNvPr id="10" name="Text 8"/>
          <p:cNvSpPr/>
          <p:nvPr/>
        </p:nvSpPr>
        <p:spPr>
          <a:xfrm>
            <a:off x="6766560" y="3163824"/>
            <a:ext cx="5120640" cy="685800"/>
          </a:xfrm>
          <a:prstGeom prst="rect">
            <a:avLst/>
          </a:prstGeom>
          <a:noFill/>
          <a:ln/>
        </p:spPr>
        <p:txBody>
          <a:bodyPr wrap="square" lIns="0" tIns="0" rIns="0" bIns="0" rtlCol="0" anchor="ctr"/>
          <a:lstStyle/>
          <a:p>
            <a:pPr indent="0" marL="0">
              <a:buNone/>
            </a:pPr>
            <a:r>
              <a:rPr lang="en-US" sz="1050" i="1" dirty="0">
                <a:solidFill>
                  <a:srgbClr val="5A6B72"/>
                </a:solidFill>
                <a:latin typeface="Calibri" pitchFamily="34" charset="0"/>
                <a:ea typeface="Calibri" pitchFamily="34" charset="-122"/>
                <a:cs typeface="Calibri" pitchFamily="34" charset="-120"/>
              </a:rPr>
              <a:t>It recommended technology enabling pre-payment checking and validation of all MBS claims, and a real-time rules engine inside practice software.</a:t>
            </a:r>
            <a:endParaRPr lang="en-US" sz="1050" dirty="0"/>
          </a:p>
        </p:txBody>
      </p:sp>
      <p:sp>
        <p:nvSpPr>
          <p:cNvPr id="11" name="Shape 9"/>
          <p:cNvSpPr/>
          <p:nvPr/>
        </p:nvSpPr>
        <p:spPr>
          <a:xfrm>
            <a:off x="548640" y="4224528"/>
            <a:ext cx="11064240" cy="1417320"/>
          </a:xfrm>
          <a:prstGeom prst="roundRect">
            <a:avLst>
              <a:gd name="adj" fmla="val 6452"/>
            </a:avLst>
          </a:prstGeom>
          <a:solidFill>
            <a:srgbClr val="FFFFFF"/>
          </a:solidFill>
          <a:ln w="19050">
            <a:solidFill>
              <a:srgbClr val="6B4A7A"/>
            </a:solidFill>
            <a:prstDash val="solid"/>
          </a:ln>
        </p:spPr>
      </p:sp>
      <p:sp>
        <p:nvSpPr>
          <p:cNvPr id="12" name="Text 10"/>
          <p:cNvSpPr/>
          <p:nvPr/>
        </p:nvSpPr>
        <p:spPr>
          <a:xfrm>
            <a:off x="841248" y="4370832"/>
            <a:ext cx="10479024" cy="365760"/>
          </a:xfrm>
          <a:prstGeom prst="rect">
            <a:avLst/>
          </a:prstGeom>
          <a:noFill/>
          <a:ln/>
        </p:spPr>
        <p:txBody>
          <a:bodyPr wrap="square" lIns="0" tIns="0" rIns="0" bIns="0" rtlCol="0" anchor="ctr"/>
          <a:lstStyle/>
          <a:p>
            <a:pPr indent="0" marL="0">
              <a:buNone/>
            </a:pPr>
            <a:r>
              <a:rPr lang="en-US" sz="1500" b="1" dirty="0">
                <a:solidFill>
                  <a:srgbClr val="6B4A7A"/>
                </a:solidFill>
                <a:latin typeface="Calibri" pitchFamily="34" charset="0"/>
                <a:ea typeface="Calibri" pitchFamily="34" charset="-122"/>
                <a:cs typeface="Calibri" pitchFamily="34" charset="-120"/>
              </a:rPr>
              <a:t>The system is pay-then-audit, not block-then-pay</a:t>
            </a:r>
            <a:endParaRPr lang="en-US" sz="1500" dirty="0"/>
          </a:p>
        </p:txBody>
      </p:sp>
      <p:sp>
        <p:nvSpPr>
          <p:cNvPr id="13" name="Text 11"/>
          <p:cNvSpPr/>
          <p:nvPr/>
        </p:nvSpPr>
        <p:spPr>
          <a:xfrm>
            <a:off x="841248" y="4773168"/>
            <a:ext cx="10479024" cy="777240"/>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The Department states it plainly on its own co-claiming restriction: "a successful payment … does not automatically make the co-claiming valid. Providers would be subject to post-payment audit based on the restrictions detailed in the item descriptor." Payment is not approval, and it never was.</a:t>
            </a:r>
            <a:endParaRPr lang="en-US" sz="1150" dirty="0"/>
          </a:p>
        </p:txBody>
      </p:sp>
      <p:sp>
        <p:nvSpPr>
          <p:cNvPr id="14" name="Text 12"/>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Philip Review, Independent Review of Medicare Integrity and Compliance, April 2023, pp. 25–26; MBS Online co-claiming fact sheet, 1 November 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How it is policed — after payment</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An escalation ladder, and a set of volumes that has not been published since 2018-19.</a:t>
            </a:r>
            <a:endParaRPr lang="en-US" sz="1300" dirty="0"/>
          </a:p>
        </p:txBody>
      </p:sp>
      <p:sp>
        <p:nvSpPr>
          <p:cNvPr id="4" name="Shape 2"/>
          <p:cNvSpPr/>
          <p:nvPr/>
        </p:nvSpPr>
        <p:spPr>
          <a:xfrm>
            <a:off x="548640" y="1700784"/>
            <a:ext cx="329184" cy="329184"/>
          </a:xfrm>
          <a:prstGeom prst="ellipse">
            <a:avLst/>
          </a:prstGeom>
          <a:solidFill>
            <a:srgbClr val="1C7293"/>
          </a:solidFill>
          <a:ln/>
        </p:spPr>
      </p:sp>
      <p:sp>
        <p:nvSpPr>
          <p:cNvPr id="5" name="Text 3"/>
          <p:cNvSpPr/>
          <p:nvPr/>
        </p:nvSpPr>
        <p:spPr>
          <a:xfrm>
            <a:off x="548640" y="17007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005840" y="166420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Education and behavioural nudge letters</a:t>
            </a:r>
            <a:endParaRPr lang="en-US" sz="1150" dirty="0"/>
          </a:p>
        </p:txBody>
      </p:sp>
      <p:sp>
        <p:nvSpPr>
          <p:cNvPr id="7" name="Shape 5"/>
          <p:cNvSpPr/>
          <p:nvPr/>
        </p:nvSpPr>
        <p:spPr>
          <a:xfrm>
            <a:off x="548640" y="2249424"/>
            <a:ext cx="329184" cy="329184"/>
          </a:xfrm>
          <a:prstGeom prst="ellipse">
            <a:avLst/>
          </a:prstGeom>
          <a:solidFill>
            <a:srgbClr val="1C7293"/>
          </a:solidFill>
          <a:ln/>
        </p:spPr>
      </p:sp>
      <p:sp>
        <p:nvSpPr>
          <p:cNvPr id="8" name="Text 6"/>
          <p:cNvSpPr/>
          <p:nvPr/>
        </p:nvSpPr>
        <p:spPr>
          <a:xfrm>
            <a:off x="5486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1005840" y="221284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Targeted compliance letters — voluntary acknowledgement and self-audit</a:t>
            </a:r>
            <a:endParaRPr lang="en-US" sz="1150" dirty="0"/>
          </a:p>
        </p:txBody>
      </p:sp>
      <p:sp>
        <p:nvSpPr>
          <p:cNvPr id="10" name="Shape 8"/>
          <p:cNvSpPr/>
          <p:nvPr/>
        </p:nvSpPr>
        <p:spPr>
          <a:xfrm>
            <a:off x="548640" y="2798064"/>
            <a:ext cx="329184" cy="329184"/>
          </a:xfrm>
          <a:prstGeom prst="ellipse">
            <a:avLst/>
          </a:prstGeom>
          <a:solidFill>
            <a:srgbClr val="C97B1E"/>
          </a:solidFill>
          <a:ln/>
        </p:spPr>
      </p:sp>
      <p:sp>
        <p:nvSpPr>
          <p:cNvPr id="11" name="Text 9"/>
          <p:cNvSpPr/>
          <p:nvPr/>
        </p:nvSpPr>
        <p:spPr>
          <a:xfrm>
            <a:off x="548640" y="279806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1005840" y="276148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Audit — where there is reasonable concern a benefit exceeded what was payable</a:t>
            </a:r>
            <a:endParaRPr lang="en-US" sz="1150" dirty="0"/>
          </a:p>
        </p:txBody>
      </p:sp>
      <p:sp>
        <p:nvSpPr>
          <p:cNvPr id="13" name="Shape 11"/>
          <p:cNvSpPr/>
          <p:nvPr/>
        </p:nvSpPr>
        <p:spPr>
          <a:xfrm>
            <a:off x="548640" y="3346704"/>
            <a:ext cx="329184" cy="329184"/>
          </a:xfrm>
          <a:prstGeom prst="ellipse">
            <a:avLst/>
          </a:prstGeom>
          <a:solidFill>
            <a:srgbClr val="C97B1E"/>
          </a:solidFill>
          <a:ln/>
        </p:spPr>
      </p:sp>
      <p:sp>
        <p:nvSpPr>
          <p:cNvPr id="14" name="Text 12"/>
          <p:cNvSpPr/>
          <p:nvPr/>
        </p:nvSpPr>
        <p:spPr>
          <a:xfrm>
            <a:off x="548640" y="33467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1005840" y="331012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Practitioner Review Program — includes the 80/20 and 30/20 rules</a:t>
            </a:r>
            <a:endParaRPr lang="en-US" sz="1150" dirty="0"/>
          </a:p>
        </p:txBody>
      </p:sp>
      <p:sp>
        <p:nvSpPr>
          <p:cNvPr id="16" name="Shape 14"/>
          <p:cNvSpPr/>
          <p:nvPr/>
        </p:nvSpPr>
        <p:spPr>
          <a:xfrm>
            <a:off x="548640" y="3895344"/>
            <a:ext cx="329184" cy="329184"/>
          </a:xfrm>
          <a:prstGeom prst="ellipse">
            <a:avLst/>
          </a:prstGeom>
          <a:solidFill>
            <a:srgbClr val="B23A26"/>
          </a:solidFill>
          <a:ln/>
        </p:spPr>
      </p:sp>
      <p:sp>
        <p:nvSpPr>
          <p:cNvPr id="17" name="Text 15"/>
          <p:cNvSpPr/>
          <p:nvPr/>
        </p:nvSpPr>
        <p:spPr>
          <a:xfrm>
            <a:off x="548640" y="38953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1005840" y="385876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Referral to the Professional Services Review</a:t>
            </a:r>
            <a:endParaRPr lang="en-US" sz="1150" dirty="0"/>
          </a:p>
        </p:txBody>
      </p:sp>
      <p:sp>
        <p:nvSpPr>
          <p:cNvPr id="19" name="Shape 17"/>
          <p:cNvSpPr/>
          <p:nvPr/>
        </p:nvSpPr>
        <p:spPr>
          <a:xfrm>
            <a:off x="548640" y="4443984"/>
            <a:ext cx="329184" cy="329184"/>
          </a:xfrm>
          <a:prstGeom prst="ellipse">
            <a:avLst/>
          </a:prstGeom>
          <a:solidFill>
            <a:srgbClr val="B23A26"/>
          </a:solidFill>
          <a:ln/>
        </p:spPr>
      </p:sp>
      <p:sp>
        <p:nvSpPr>
          <p:cNvPr id="20" name="Text 18"/>
          <p:cNvSpPr/>
          <p:nvPr/>
        </p:nvSpPr>
        <p:spPr>
          <a:xfrm>
            <a:off x="548640" y="44439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p:nvPr/>
        </p:nvSpPr>
        <p:spPr>
          <a:xfrm>
            <a:off x="1005840" y="440740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Fraud investigation and criminal prosecution</a:t>
            </a:r>
            <a:endParaRPr lang="en-US" sz="1150" dirty="0"/>
          </a:p>
        </p:txBody>
      </p:sp>
      <p:sp>
        <p:nvSpPr>
          <p:cNvPr id="22" name="Shape 20"/>
          <p:cNvSpPr/>
          <p:nvPr/>
        </p:nvSpPr>
        <p:spPr>
          <a:xfrm>
            <a:off x="6492240" y="1645920"/>
            <a:ext cx="5669280" cy="2240280"/>
          </a:xfrm>
          <a:prstGeom prst="roundRect">
            <a:avLst>
              <a:gd name="adj" fmla="val 4082"/>
            </a:avLst>
          </a:prstGeom>
          <a:solidFill>
            <a:srgbClr val="EEF3F5"/>
          </a:solidFill>
          <a:ln w="9525">
            <a:solidFill>
              <a:srgbClr val="DCE6EA"/>
            </a:solidFill>
            <a:prstDash val="solid"/>
          </a:ln>
        </p:spPr>
      </p:sp>
      <p:sp>
        <p:nvSpPr>
          <p:cNvPr id="23" name="Text 21"/>
          <p:cNvSpPr/>
          <p:nvPr/>
        </p:nvSpPr>
        <p:spPr>
          <a:xfrm>
            <a:off x="6748272" y="1773936"/>
            <a:ext cx="5120640" cy="347472"/>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Interventions in 2018-19 — the most recent published</a:t>
            </a:r>
            <a:endParaRPr lang="en-US" sz="1300" dirty="0"/>
          </a:p>
        </p:txBody>
      </p:sp>
      <p:sp>
        <p:nvSpPr>
          <p:cNvPr id="24" name="Text 22"/>
          <p:cNvSpPr/>
          <p:nvPr/>
        </p:nvSpPr>
        <p:spPr>
          <a:xfrm>
            <a:off x="6748272" y="2176272"/>
            <a:ext cx="5120640" cy="160020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12,061 targeted letters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288 audits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457 Practitioner Review Program reviews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57 investigations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2,189 tip-offs received</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$49.3m recovered directly, $123.4m attributed to behaviour change</a:t>
            </a:r>
            <a:endParaRPr lang="en-US" sz="1050" dirty="0"/>
          </a:p>
        </p:txBody>
      </p:sp>
      <p:sp>
        <p:nvSpPr>
          <p:cNvPr id="25" name="Shape 23"/>
          <p:cNvSpPr/>
          <p:nvPr/>
        </p:nvSpPr>
        <p:spPr>
          <a:xfrm>
            <a:off x="6492240" y="4023360"/>
            <a:ext cx="5669280" cy="1645920"/>
          </a:xfrm>
          <a:prstGeom prst="roundRect">
            <a:avLst>
              <a:gd name="adj" fmla="val 5556"/>
            </a:avLst>
          </a:prstGeom>
          <a:solidFill>
            <a:srgbClr val="FBEDEA"/>
          </a:solidFill>
          <a:ln w="19050">
            <a:solidFill>
              <a:srgbClr val="B23A26"/>
            </a:solidFill>
            <a:prstDash val="solid"/>
          </a:ln>
        </p:spPr>
      </p:sp>
      <p:sp>
        <p:nvSpPr>
          <p:cNvPr id="26" name="Text 24"/>
          <p:cNvSpPr/>
          <p:nvPr/>
        </p:nvSpPr>
        <p:spPr>
          <a:xfrm>
            <a:off x="6748272" y="4151376"/>
            <a:ext cx="5120640" cy="347472"/>
          </a:xfrm>
          <a:prstGeom prst="rect">
            <a:avLst/>
          </a:prstGeom>
          <a:noFill/>
          <a:ln/>
        </p:spPr>
        <p:txBody>
          <a:bodyPr wrap="square" lIns="0" tIns="0" rIns="0" bIns="0" rtlCol="0" anchor="ctr"/>
          <a:lstStyle/>
          <a:p>
            <a:pPr indent="0" marL="0">
              <a:buNone/>
            </a:pPr>
            <a:r>
              <a:rPr lang="en-US" sz="1300" b="1" dirty="0">
                <a:solidFill>
                  <a:srgbClr val="B23A26"/>
                </a:solidFill>
                <a:latin typeface="Calibri" pitchFamily="34" charset="0"/>
                <a:ea typeface="Calibri" pitchFamily="34" charset="-122"/>
                <a:cs typeface="Calibri" pitchFamily="34" charset="-120"/>
              </a:rPr>
              <a:t>The coverage problem</a:t>
            </a:r>
            <a:endParaRPr lang="en-US" sz="1300" dirty="0"/>
          </a:p>
        </p:txBody>
      </p:sp>
      <p:sp>
        <p:nvSpPr>
          <p:cNvPr id="27" name="Text 25"/>
          <p:cNvSpPr/>
          <p:nvPr/>
        </p:nvSpPr>
        <p:spPr>
          <a:xfrm>
            <a:off x="6748272" y="4535424"/>
            <a:ext cx="5120640" cy="1042416"/>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Against 511 million transactions a year, the Philip Review found only 40 to 60 compliance projects are run annually, and that "less than 10% of risks brought to the attention of regulators are progressed to some sort of treatment pathway." Detection has been largely reactive — referrals and tip-offs — with proactive analytics still developing as at June 2024.</a:t>
            </a:r>
            <a:endParaRPr lang="en-US" sz="1050" dirty="0"/>
          </a:p>
        </p:txBody>
      </p:sp>
      <p:sp>
        <p:nvSpPr>
          <p:cNvPr id="28" name="Text 26"/>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ANAO Report No. 17 2020-21 (2018-19 data); ANAO Report No. 7 2024-25; Philip Review p.8; Department of Health, Our Medicare compliance approach.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The Professional Services Review</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Where serious cases end up. Small, slow, and consequential.</a:t>
            </a:r>
            <a:endParaRPr lang="en-US" sz="1300" dirty="0"/>
          </a:p>
        </p:txBody>
      </p:sp>
      <p:sp>
        <p:nvSpPr>
          <p:cNvPr id="4" name="Shape 2"/>
          <p:cNvSpPr/>
          <p:nvPr/>
        </p:nvSpPr>
        <p:spPr>
          <a:xfrm>
            <a:off x="548640" y="1700784"/>
            <a:ext cx="2615184" cy="1965960"/>
          </a:xfrm>
          <a:prstGeom prst="roundRect">
            <a:avLst>
              <a:gd name="adj" fmla="val 4651"/>
            </a:avLst>
          </a:prstGeom>
          <a:solidFill>
            <a:srgbClr val="EEF3F5"/>
          </a:solidFill>
          <a:ln w="9525">
            <a:solidFill>
              <a:srgbClr val="DCE6EA"/>
            </a:solidFill>
            <a:prstDash val="solid"/>
          </a:ln>
        </p:spPr>
      </p:sp>
      <p:sp>
        <p:nvSpPr>
          <p:cNvPr id="5" name="Text 3"/>
          <p:cNvSpPr/>
          <p:nvPr/>
        </p:nvSpPr>
        <p:spPr>
          <a:xfrm>
            <a:off x="768096" y="1865376"/>
            <a:ext cx="2176272" cy="640080"/>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116</a:t>
            </a:r>
            <a:endParaRPr lang="en-US" sz="2600" dirty="0"/>
          </a:p>
        </p:txBody>
      </p:sp>
      <p:sp>
        <p:nvSpPr>
          <p:cNvPr id="6" name="Text 4"/>
          <p:cNvSpPr/>
          <p:nvPr/>
        </p:nvSpPr>
        <p:spPr>
          <a:xfrm>
            <a:off x="768096" y="2542032"/>
            <a:ext cx="2176272" cy="96012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requests received from the Chief Executive Medicare in 2024-25, against a five-year average near 100</a:t>
            </a:r>
            <a:endParaRPr lang="en-US" sz="1050" dirty="0"/>
          </a:p>
        </p:txBody>
      </p:sp>
      <p:sp>
        <p:nvSpPr>
          <p:cNvPr id="7" name="Shape 5"/>
          <p:cNvSpPr/>
          <p:nvPr/>
        </p:nvSpPr>
        <p:spPr>
          <a:xfrm>
            <a:off x="3419856" y="1700784"/>
            <a:ext cx="2615184" cy="1965960"/>
          </a:xfrm>
          <a:prstGeom prst="roundRect">
            <a:avLst>
              <a:gd name="adj" fmla="val 4651"/>
            </a:avLst>
          </a:prstGeom>
          <a:solidFill>
            <a:srgbClr val="EEF3F5"/>
          </a:solidFill>
          <a:ln w="9525">
            <a:solidFill>
              <a:srgbClr val="DCE6EA"/>
            </a:solidFill>
            <a:prstDash val="solid"/>
          </a:ln>
        </p:spPr>
      </p:sp>
      <p:sp>
        <p:nvSpPr>
          <p:cNvPr id="8" name="Text 6"/>
          <p:cNvSpPr/>
          <p:nvPr/>
        </p:nvSpPr>
        <p:spPr>
          <a:xfrm>
            <a:off x="3639312" y="1865376"/>
            <a:ext cx="2176272" cy="640080"/>
          </a:xfrm>
          <a:prstGeom prst="rect">
            <a:avLst/>
          </a:prstGeom>
          <a:noFill/>
          <a:ln/>
        </p:spPr>
        <p:txBody>
          <a:bodyPr wrap="square" lIns="0" tIns="0" rIns="0" bIns="0" rtlCol="0" anchor="ctr"/>
          <a:lstStyle/>
          <a:p>
            <a:pPr indent="0" marL="0">
              <a:buNone/>
            </a:pPr>
            <a:r>
              <a:rPr lang="en-US" sz="2600" b="1" dirty="0">
                <a:solidFill>
                  <a:srgbClr val="B23A26"/>
                </a:solidFill>
                <a:latin typeface="Cambria" pitchFamily="34" charset="0"/>
                <a:ea typeface="Cambria" pitchFamily="34" charset="-122"/>
                <a:cs typeface="Cambria" pitchFamily="34" charset="-120"/>
              </a:rPr>
              <a:t>$27.3m</a:t>
            </a:r>
            <a:endParaRPr lang="en-US" sz="2600" dirty="0"/>
          </a:p>
        </p:txBody>
      </p:sp>
      <p:sp>
        <p:nvSpPr>
          <p:cNvPr id="9" name="Text 7"/>
          <p:cNvSpPr/>
          <p:nvPr/>
        </p:nvSpPr>
        <p:spPr>
          <a:xfrm>
            <a:off x="3639312" y="2542032"/>
            <a:ext cx="2176272" cy="96012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in repayments ordered in 2024-25 — $19.9m by negotiated agreement, $7.4m by final determination</a:t>
            </a:r>
            <a:endParaRPr lang="en-US" sz="1050" dirty="0"/>
          </a:p>
        </p:txBody>
      </p:sp>
      <p:sp>
        <p:nvSpPr>
          <p:cNvPr id="10" name="Shape 8"/>
          <p:cNvSpPr/>
          <p:nvPr/>
        </p:nvSpPr>
        <p:spPr>
          <a:xfrm>
            <a:off x="6291072" y="1700784"/>
            <a:ext cx="2615184" cy="1965960"/>
          </a:xfrm>
          <a:prstGeom prst="roundRect">
            <a:avLst>
              <a:gd name="adj" fmla="val 4651"/>
            </a:avLst>
          </a:prstGeom>
          <a:solidFill>
            <a:srgbClr val="EEF3F5"/>
          </a:solidFill>
          <a:ln w="9525">
            <a:solidFill>
              <a:srgbClr val="DCE6EA"/>
            </a:solidFill>
            <a:prstDash val="solid"/>
          </a:ln>
        </p:spPr>
      </p:sp>
      <p:sp>
        <p:nvSpPr>
          <p:cNvPr id="11" name="Text 9"/>
          <p:cNvSpPr/>
          <p:nvPr/>
        </p:nvSpPr>
        <p:spPr>
          <a:xfrm>
            <a:off x="6510528" y="1865376"/>
            <a:ext cx="2176272" cy="640080"/>
          </a:xfrm>
          <a:prstGeom prst="rect">
            <a:avLst/>
          </a:prstGeom>
          <a:noFill/>
          <a:ln/>
        </p:spPr>
        <p:txBody>
          <a:bodyPr wrap="square" lIns="0" tIns="0" rIns="0" bIns="0" rtlCol="0" anchor="ctr"/>
          <a:lstStyle/>
          <a:p>
            <a:pPr indent="0" marL="0">
              <a:buNone/>
            </a:pPr>
            <a:r>
              <a:rPr lang="en-US" sz="2600" b="1" dirty="0">
                <a:solidFill>
                  <a:srgbClr val="C97B1E"/>
                </a:solidFill>
                <a:latin typeface="Cambria" pitchFamily="34" charset="0"/>
                <a:ea typeface="Cambria" pitchFamily="34" charset="-122"/>
                <a:cs typeface="Cambria" pitchFamily="34" charset="-120"/>
              </a:rPr>
              <a:t>16 of 16</a:t>
            </a:r>
            <a:endParaRPr lang="en-US" sz="2600" dirty="0"/>
          </a:p>
        </p:txBody>
      </p:sp>
      <p:sp>
        <p:nvSpPr>
          <p:cNvPr id="12" name="Text 10"/>
          <p:cNvSpPr/>
          <p:nvPr/>
        </p:nvSpPr>
        <p:spPr>
          <a:xfrm>
            <a:off x="6510528" y="2542032"/>
            <a:ext cx="2176272" cy="96012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completed committee investigations found inappropriate practice. None found otherwise.</a:t>
            </a:r>
            <a:endParaRPr lang="en-US" sz="1050" dirty="0"/>
          </a:p>
        </p:txBody>
      </p:sp>
      <p:sp>
        <p:nvSpPr>
          <p:cNvPr id="13" name="Shape 11"/>
          <p:cNvSpPr/>
          <p:nvPr/>
        </p:nvSpPr>
        <p:spPr>
          <a:xfrm>
            <a:off x="9162288" y="1700784"/>
            <a:ext cx="2615184" cy="1965960"/>
          </a:xfrm>
          <a:prstGeom prst="roundRect">
            <a:avLst>
              <a:gd name="adj" fmla="val 4651"/>
            </a:avLst>
          </a:prstGeom>
          <a:solidFill>
            <a:srgbClr val="EEF3F5"/>
          </a:solidFill>
          <a:ln w="9525">
            <a:solidFill>
              <a:srgbClr val="DCE6EA"/>
            </a:solidFill>
            <a:prstDash val="solid"/>
          </a:ln>
        </p:spPr>
      </p:sp>
      <p:sp>
        <p:nvSpPr>
          <p:cNvPr id="14" name="Text 12"/>
          <p:cNvSpPr/>
          <p:nvPr/>
        </p:nvSpPr>
        <p:spPr>
          <a:xfrm>
            <a:off x="9381744" y="1865376"/>
            <a:ext cx="2176272" cy="640080"/>
          </a:xfrm>
          <a:prstGeom prst="rect">
            <a:avLst/>
          </a:prstGeom>
          <a:noFill/>
          <a:ln/>
        </p:spPr>
        <p:txBody>
          <a:bodyPr wrap="square" lIns="0" tIns="0" rIns="0" bIns="0" rtlCol="0" anchor="ctr"/>
          <a:lstStyle/>
          <a:p>
            <a:pPr indent="0" marL="0">
              <a:buNone/>
            </a:pPr>
            <a:r>
              <a:rPr lang="en-US" sz="2600" b="1" dirty="0">
                <a:solidFill>
                  <a:srgbClr val="6B4A7A"/>
                </a:solidFill>
                <a:latin typeface="Cambria" pitchFamily="34" charset="0"/>
                <a:ea typeface="Cambria" pitchFamily="34" charset="-122"/>
                <a:cs typeface="Cambria" pitchFamily="34" charset="-120"/>
              </a:rPr>
              <a:t>18–24 months</a:t>
            </a:r>
            <a:endParaRPr lang="en-US" sz="2600" dirty="0"/>
          </a:p>
        </p:txBody>
      </p:sp>
      <p:sp>
        <p:nvSpPr>
          <p:cNvPr id="15" name="Text 13"/>
          <p:cNvSpPr/>
          <p:nvPr/>
        </p:nvSpPr>
        <p:spPr>
          <a:xfrm>
            <a:off x="9381744" y="2542032"/>
            <a:ext cx="2176272" cy="96012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typical elapsed time through the full committee pathway</a:t>
            </a:r>
            <a:endParaRPr lang="en-US" sz="1050" dirty="0"/>
          </a:p>
        </p:txBody>
      </p:sp>
      <p:sp>
        <p:nvSpPr>
          <p:cNvPr id="16" name="Shape 14"/>
          <p:cNvSpPr/>
          <p:nvPr/>
        </p:nvSpPr>
        <p:spPr>
          <a:xfrm>
            <a:off x="548640" y="3840480"/>
            <a:ext cx="5486400" cy="1828800"/>
          </a:xfrm>
          <a:prstGeom prst="roundRect">
            <a:avLst>
              <a:gd name="adj" fmla="val 5000"/>
            </a:avLst>
          </a:prstGeom>
          <a:solidFill>
            <a:srgbClr val="FFFFFF"/>
          </a:solidFill>
          <a:ln w="19050">
            <a:solidFill>
              <a:srgbClr val="0B3C49"/>
            </a:solidFill>
            <a:prstDash val="solid"/>
          </a:ln>
        </p:spPr>
      </p:sp>
      <p:sp>
        <p:nvSpPr>
          <p:cNvPr id="17" name="Text 15"/>
          <p:cNvSpPr/>
          <p:nvPr/>
        </p:nvSpPr>
        <p:spPr>
          <a:xfrm>
            <a:off x="804672" y="3968496"/>
            <a:ext cx="5029200" cy="347472"/>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How a case starts and ends</a:t>
            </a:r>
            <a:endParaRPr lang="en-US" sz="1300" dirty="0"/>
          </a:p>
        </p:txBody>
      </p:sp>
      <p:sp>
        <p:nvSpPr>
          <p:cNvPr id="18" name="Text 16"/>
          <p:cNvSpPr/>
          <p:nvPr/>
        </p:nvSpPr>
        <p:spPr>
          <a:xfrm>
            <a:off x="804672" y="4352544"/>
            <a:ext cx="5029200" cy="118872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Chief Executive Medicare asks the Director to review a 12-month period</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Director reviews records, takes peer advice, issues a preliminary report</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Outcome: no further action, a negotiated agreement, or referral to a committee</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90 negotiated agreements ratified in 2024-25; 18 final determinations took effect</a:t>
            </a:r>
            <a:endParaRPr lang="en-US" sz="1000" dirty="0"/>
          </a:p>
        </p:txBody>
      </p:sp>
      <p:sp>
        <p:nvSpPr>
          <p:cNvPr id="19" name="Shape 17"/>
          <p:cNvSpPr/>
          <p:nvPr/>
        </p:nvSpPr>
        <p:spPr>
          <a:xfrm>
            <a:off x="6309360" y="3840480"/>
            <a:ext cx="5852160" cy="1828800"/>
          </a:xfrm>
          <a:prstGeom prst="roundRect">
            <a:avLst>
              <a:gd name="adj" fmla="val 5000"/>
            </a:avLst>
          </a:prstGeom>
          <a:solidFill>
            <a:srgbClr val="FFFFFF"/>
          </a:solidFill>
          <a:ln w="19050">
            <a:solidFill>
              <a:srgbClr val="B23A26"/>
            </a:solidFill>
            <a:prstDash val="solid"/>
          </a:ln>
        </p:spPr>
      </p:sp>
      <p:sp>
        <p:nvSpPr>
          <p:cNvPr id="20" name="Text 18"/>
          <p:cNvSpPr/>
          <p:nvPr/>
        </p:nvSpPr>
        <p:spPr>
          <a:xfrm>
            <a:off x="6565392" y="3968496"/>
            <a:ext cx="5394960" cy="347472"/>
          </a:xfrm>
          <a:prstGeom prst="rect">
            <a:avLst/>
          </a:prstGeom>
          <a:noFill/>
          <a:ln/>
        </p:spPr>
        <p:txBody>
          <a:bodyPr wrap="square" lIns="0" tIns="0" rIns="0" bIns="0" rtlCol="0" anchor="ctr"/>
          <a:lstStyle/>
          <a:p>
            <a:pPr indent="0" marL="0">
              <a:buNone/>
            </a:pPr>
            <a:r>
              <a:rPr lang="en-US" sz="1300" b="1" dirty="0">
                <a:solidFill>
                  <a:srgbClr val="B23A26"/>
                </a:solidFill>
                <a:latin typeface="Calibri" pitchFamily="34" charset="0"/>
                <a:ea typeface="Calibri" pitchFamily="34" charset="-122"/>
                <a:cs typeface="Calibri" pitchFamily="34" charset="-120"/>
              </a:rPr>
              <a:t>Consequences</a:t>
            </a:r>
            <a:endParaRPr lang="en-US" sz="1300" dirty="0"/>
          </a:p>
        </p:txBody>
      </p:sp>
      <p:sp>
        <p:nvSpPr>
          <p:cNvPr id="21" name="Text 19"/>
          <p:cNvSpPr/>
          <p:nvPr/>
        </p:nvSpPr>
        <p:spPr>
          <a:xfrm>
            <a:off x="6565392" y="4352544"/>
            <a:ext cx="5394960" cy="118872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Repayment of benefits, reprimand, counselling</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Partial disqualification from Medicare — 3 to 18 months</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Full disqualification — 12 to 36 months</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Since September 2025, review information may be used in prosecutions, debt recovery and practitioner-regulator proceedings</a:t>
            </a:r>
            <a:endParaRPr lang="en-US" sz="1000" dirty="0"/>
          </a:p>
        </p:txBody>
      </p:sp>
      <p:sp>
        <p:nvSpPr>
          <p:cNvPr id="22" name="Text 20"/>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PSR Annual Report 2024-25; PSR Guide to the Professional Services Review Process.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The known non-compliance patterns</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What the review body actually finds, and what investigators actually prosecute.</a:t>
            </a:r>
            <a:endParaRPr lang="en-US" sz="1300" dirty="0"/>
          </a:p>
        </p:txBody>
      </p:sp>
      <p:sp>
        <p:nvSpPr>
          <p:cNvPr id="4" name="Shape 2"/>
          <p:cNvSpPr/>
          <p:nvPr/>
        </p:nvSpPr>
        <p:spPr>
          <a:xfrm>
            <a:off x="548640" y="1645920"/>
            <a:ext cx="3511296" cy="1325880"/>
          </a:xfrm>
          <a:prstGeom prst="roundRect">
            <a:avLst>
              <a:gd name="adj" fmla="val 6897"/>
            </a:avLst>
          </a:prstGeom>
          <a:solidFill>
            <a:srgbClr val="EEF3F5"/>
          </a:solidFill>
          <a:ln w="9525">
            <a:solidFill>
              <a:srgbClr val="DCE6EA"/>
            </a:solidFill>
            <a:prstDash val="solid"/>
          </a:ln>
        </p:spPr>
      </p:sp>
      <p:sp>
        <p:nvSpPr>
          <p:cNvPr id="5" name="Text 3"/>
          <p:cNvSpPr/>
          <p:nvPr/>
        </p:nvSpPr>
        <p:spPr>
          <a:xfrm>
            <a:off x="786384" y="1810512"/>
            <a:ext cx="3035808" cy="420624"/>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Record keeping</a:t>
            </a:r>
            <a:endParaRPr lang="en-US" sz="1250" dirty="0"/>
          </a:p>
        </p:txBody>
      </p:sp>
      <p:sp>
        <p:nvSpPr>
          <p:cNvPr id="6" name="Text 4"/>
          <p:cNvSpPr/>
          <p:nvPr/>
        </p:nvSpPr>
        <p:spPr>
          <a:xfrm>
            <a:off x="786384" y="2322576"/>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The single most frequently identified concern. Inadequate clinical information, documentation written after the fact, and unindividualised templates.</a:t>
            </a:r>
            <a:endParaRPr lang="en-US" sz="980" dirty="0"/>
          </a:p>
        </p:txBody>
      </p:sp>
      <p:sp>
        <p:nvSpPr>
          <p:cNvPr id="7" name="Shape 5"/>
          <p:cNvSpPr/>
          <p:nvPr/>
        </p:nvSpPr>
        <p:spPr>
          <a:xfrm>
            <a:off x="4279392" y="1645920"/>
            <a:ext cx="3511296" cy="1325880"/>
          </a:xfrm>
          <a:prstGeom prst="roundRect">
            <a:avLst>
              <a:gd name="adj" fmla="val 6897"/>
            </a:avLst>
          </a:prstGeom>
          <a:solidFill>
            <a:srgbClr val="EEF3F5"/>
          </a:solidFill>
          <a:ln w="9525">
            <a:solidFill>
              <a:srgbClr val="DCE6EA"/>
            </a:solidFill>
            <a:prstDash val="solid"/>
          </a:ln>
        </p:spPr>
      </p:sp>
      <p:sp>
        <p:nvSpPr>
          <p:cNvPr id="8" name="Text 6"/>
          <p:cNvSpPr/>
          <p:nvPr/>
        </p:nvSpPr>
        <p:spPr>
          <a:xfrm>
            <a:off x="4517136" y="1810512"/>
            <a:ext cx="3035808" cy="420624"/>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Insufficient clinical input</a:t>
            </a:r>
            <a:endParaRPr lang="en-US" sz="1250" dirty="0"/>
          </a:p>
        </p:txBody>
      </p:sp>
      <p:sp>
        <p:nvSpPr>
          <p:cNvPr id="9" name="Text 7"/>
          <p:cNvSpPr/>
          <p:nvPr/>
        </p:nvSpPr>
        <p:spPr>
          <a:xfrm>
            <a:off x="4517136" y="2322576"/>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Items billed without adequate practitioner involvement or documented decision-making.</a:t>
            </a:r>
            <a:endParaRPr lang="en-US" sz="980" dirty="0"/>
          </a:p>
        </p:txBody>
      </p:sp>
      <p:sp>
        <p:nvSpPr>
          <p:cNvPr id="10" name="Shape 8"/>
          <p:cNvSpPr/>
          <p:nvPr/>
        </p:nvSpPr>
        <p:spPr>
          <a:xfrm>
            <a:off x="8010144" y="1645920"/>
            <a:ext cx="3511296" cy="1325880"/>
          </a:xfrm>
          <a:prstGeom prst="roundRect">
            <a:avLst>
              <a:gd name="adj" fmla="val 6897"/>
            </a:avLst>
          </a:prstGeom>
          <a:solidFill>
            <a:srgbClr val="EEF3F5"/>
          </a:solidFill>
          <a:ln w="9525">
            <a:solidFill>
              <a:srgbClr val="DCE6EA"/>
            </a:solidFill>
            <a:prstDash val="solid"/>
          </a:ln>
        </p:spPr>
      </p:sp>
      <p:sp>
        <p:nvSpPr>
          <p:cNvPr id="11" name="Text 9"/>
          <p:cNvSpPr/>
          <p:nvPr/>
        </p:nvSpPr>
        <p:spPr>
          <a:xfrm>
            <a:off x="8247888" y="1810512"/>
            <a:ext cx="3035808"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Upcoding</a:t>
            </a:r>
            <a:endParaRPr lang="en-US" sz="1250" dirty="0"/>
          </a:p>
        </p:txBody>
      </p:sp>
      <p:sp>
        <p:nvSpPr>
          <p:cNvPr id="12" name="Text 10"/>
          <p:cNvSpPr/>
          <p:nvPr/>
        </p:nvSpPr>
        <p:spPr>
          <a:xfrm>
            <a:off x="8247888" y="2322576"/>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Billing a longer or more complex item than the one delivered.</a:t>
            </a:r>
            <a:endParaRPr lang="en-US" sz="980" dirty="0"/>
          </a:p>
        </p:txBody>
      </p:sp>
      <p:sp>
        <p:nvSpPr>
          <p:cNvPr id="13" name="Shape 11"/>
          <p:cNvSpPr/>
          <p:nvPr/>
        </p:nvSpPr>
        <p:spPr>
          <a:xfrm>
            <a:off x="548640" y="3127248"/>
            <a:ext cx="3511296" cy="1325880"/>
          </a:xfrm>
          <a:prstGeom prst="roundRect">
            <a:avLst>
              <a:gd name="adj" fmla="val 6897"/>
            </a:avLst>
          </a:prstGeom>
          <a:solidFill>
            <a:srgbClr val="EEF3F5"/>
          </a:solidFill>
          <a:ln w="9525">
            <a:solidFill>
              <a:srgbClr val="DCE6EA"/>
            </a:solidFill>
            <a:prstDash val="solid"/>
          </a:ln>
        </p:spPr>
      </p:sp>
      <p:sp>
        <p:nvSpPr>
          <p:cNvPr id="14" name="Text 12"/>
          <p:cNvSpPr/>
          <p:nvPr/>
        </p:nvSpPr>
        <p:spPr>
          <a:xfrm>
            <a:off x="786384" y="3291840"/>
            <a:ext cx="3035808"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Care plan misuse</a:t>
            </a:r>
            <a:endParaRPr lang="en-US" sz="1250" dirty="0"/>
          </a:p>
        </p:txBody>
      </p:sp>
      <p:sp>
        <p:nvSpPr>
          <p:cNvPr id="15" name="Text 13"/>
          <p:cNvSpPr/>
          <p:nvPr/>
        </p:nvSpPr>
        <p:spPr>
          <a:xfrm>
            <a:off x="786384" y="3803904"/>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Generic management plans, ineligible patients, weak inter-provider communication, reviews with no substance.</a:t>
            </a:r>
            <a:endParaRPr lang="en-US" sz="980" dirty="0"/>
          </a:p>
        </p:txBody>
      </p:sp>
      <p:sp>
        <p:nvSpPr>
          <p:cNvPr id="16" name="Shape 14"/>
          <p:cNvSpPr/>
          <p:nvPr/>
        </p:nvSpPr>
        <p:spPr>
          <a:xfrm>
            <a:off x="4279392" y="3127248"/>
            <a:ext cx="3511296" cy="1325880"/>
          </a:xfrm>
          <a:prstGeom prst="roundRect">
            <a:avLst>
              <a:gd name="adj" fmla="val 6897"/>
            </a:avLst>
          </a:prstGeom>
          <a:solidFill>
            <a:srgbClr val="EEF3F5"/>
          </a:solidFill>
          <a:ln w="9525">
            <a:solidFill>
              <a:srgbClr val="DCE6EA"/>
            </a:solidFill>
            <a:prstDash val="solid"/>
          </a:ln>
        </p:spPr>
      </p:sp>
      <p:sp>
        <p:nvSpPr>
          <p:cNvPr id="17" name="Text 15"/>
          <p:cNvSpPr/>
          <p:nvPr/>
        </p:nvSpPr>
        <p:spPr>
          <a:xfrm>
            <a:off x="4517136" y="3291840"/>
            <a:ext cx="3035808" cy="420624"/>
          </a:xfrm>
          <a:prstGeom prst="rect">
            <a:avLst/>
          </a:prstGeom>
          <a:noFill/>
          <a:ln/>
        </p:spPr>
        <p:txBody>
          <a:bodyPr wrap="square" lIns="0" tIns="0" rIns="0" bIns="0" rtlCol="0" anchor="ctr"/>
          <a:lstStyle/>
          <a:p>
            <a:pPr indent="0" marL="0">
              <a:buNone/>
            </a:pPr>
            <a:r>
              <a:rPr lang="en-US" sz="1250" b="1" dirty="0">
                <a:solidFill>
                  <a:srgbClr val="B23A26"/>
                </a:solidFill>
                <a:latin typeface="Calibri" pitchFamily="34" charset="0"/>
                <a:ea typeface="Calibri" pitchFamily="34" charset="-122"/>
                <a:cs typeface="Calibri" pitchFamily="34" charset="-120"/>
              </a:rPr>
              <a:t>Phantom billing</a:t>
            </a:r>
            <a:endParaRPr lang="en-US" sz="1250" dirty="0"/>
          </a:p>
        </p:txBody>
      </p:sp>
      <p:sp>
        <p:nvSpPr>
          <p:cNvPr id="18" name="Text 16"/>
          <p:cNvSpPr/>
          <p:nvPr/>
        </p:nvSpPr>
        <p:spPr>
          <a:xfrm>
            <a:off x="4517136" y="3803904"/>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Items claimed that were never delivered — including fabricated patients, or real patients drawn from stolen data.</a:t>
            </a:r>
            <a:endParaRPr lang="en-US" sz="980" dirty="0"/>
          </a:p>
        </p:txBody>
      </p:sp>
      <p:sp>
        <p:nvSpPr>
          <p:cNvPr id="19" name="Shape 17"/>
          <p:cNvSpPr/>
          <p:nvPr/>
        </p:nvSpPr>
        <p:spPr>
          <a:xfrm>
            <a:off x="8010144" y="3127248"/>
            <a:ext cx="3511296" cy="1325880"/>
          </a:xfrm>
          <a:prstGeom prst="roundRect">
            <a:avLst>
              <a:gd name="adj" fmla="val 6897"/>
            </a:avLst>
          </a:prstGeom>
          <a:solidFill>
            <a:srgbClr val="EEF3F5"/>
          </a:solidFill>
          <a:ln w="9525">
            <a:solidFill>
              <a:srgbClr val="DCE6EA"/>
            </a:solidFill>
            <a:prstDash val="solid"/>
          </a:ln>
        </p:spPr>
      </p:sp>
      <p:sp>
        <p:nvSpPr>
          <p:cNvPr id="20" name="Text 18"/>
          <p:cNvSpPr/>
          <p:nvPr/>
        </p:nvSpPr>
        <p:spPr>
          <a:xfrm>
            <a:off x="8247888" y="3291840"/>
            <a:ext cx="3035808" cy="420624"/>
          </a:xfrm>
          <a:prstGeom prst="rect">
            <a:avLst/>
          </a:prstGeom>
          <a:noFill/>
          <a:ln/>
        </p:spPr>
        <p:txBody>
          <a:bodyPr wrap="square" lIns="0" tIns="0" rIns="0" bIns="0" rtlCol="0" anchor="ctr"/>
          <a:lstStyle/>
          <a:p>
            <a:pPr indent="0" marL="0">
              <a:buNone/>
            </a:pPr>
            <a:r>
              <a:rPr lang="en-US" sz="1250" b="1" dirty="0">
                <a:solidFill>
                  <a:srgbClr val="B23A26"/>
                </a:solidFill>
                <a:latin typeface="Calibri" pitchFamily="34" charset="0"/>
                <a:ea typeface="Calibri" pitchFamily="34" charset="-122"/>
                <a:cs typeface="Calibri" pitchFamily="34" charset="-120"/>
              </a:rPr>
              <a:t>Provider number misuse</a:t>
            </a:r>
            <a:endParaRPr lang="en-US" sz="1250" dirty="0"/>
          </a:p>
        </p:txBody>
      </p:sp>
      <p:sp>
        <p:nvSpPr>
          <p:cNvPr id="21" name="Text 19"/>
          <p:cNvSpPr/>
          <p:nvPr/>
        </p:nvSpPr>
        <p:spPr>
          <a:xfrm>
            <a:off x="8247888" y="3803904"/>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Credentials compromised or shared. The assessing engine cannot match to provider identity details.</a:t>
            </a:r>
            <a:endParaRPr lang="en-US" sz="980" dirty="0"/>
          </a:p>
        </p:txBody>
      </p:sp>
      <p:sp>
        <p:nvSpPr>
          <p:cNvPr id="22" name="Shape 20"/>
          <p:cNvSpPr/>
          <p:nvPr/>
        </p:nvSpPr>
        <p:spPr>
          <a:xfrm>
            <a:off x="548640" y="4608576"/>
            <a:ext cx="3511296" cy="1325880"/>
          </a:xfrm>
          <a:prstGeom prst="roundRect">
            <a:avLst>
              <a:gd name="adj" fmla="val 6897"/>
            </a:avLst>
          </a:prstGeom>
          <a:solidFill>
            <a:srgbClr val="EEF3F5"/>
          </a:solidFill>
          <a:ln w="9525">
            <a:solidFill>
              <a:srgbClr val="DCE6EA"/>
            </a:solidFill>
            <a:prstDash val="solid"/>
          </a:ln>
        </p:spPr>
      </p:sp>
      <p:sp>
        <p:nvSpPr>
          <p:cNvPr id="23" name="Text 21"/>
          <p:cNvSpPr/>
          <p:nvPr/>
        </p:nvSpPr>
        <p:spPr>
          <a:xfrm>
            <a:off x="786384" y="4773168"/>
            <a:ext cx="3035808" cy="420624"/>
          </a:xfrm>
          <a:prstGeom prst="rect">
            <a:avLst/>
          </a:prstGeom>
          <a:noFill/>
          <a:ln/>
        </p:spPr>
        <p:txBody>
          <a:bodyPr wrap="square" lIns="0" tIns="0" rIns="0" bIns="0" rtlCol="0" anchor="ctr"/>
          <a:lstStyle/>
          <a:p>
            <a:pPr indent="0" marL="0">
              <a:buNone/>
            </a:pPr>
            <a:r>
              <a:rPr lang="en-US" sz="1250" b="1" dirty="0">
                <a:solidFill>
                  <a:srgbClr val="6B4A7A"/>
                </a:solidFill>
                <a:latin typeface="Calibri" pitchFamily="34" charset="0"/>
                <a:ea typeface="Calibri" pitchFamily="34" charset="-122"/>
                <a:cs typeface="Calibri" pitchFamily="34" charset="-120"/>
              </a:rPr>
              <a:t>Telehealth misuse</a:t>
            </a:r>
            <a:endParaRPr lang="en-US" sz="1250" dirty="0"/>
          </a:p>
        </p:txBody>
      </p:sp>
      <p:sp>
        <p:nvSpPr>
          <p:cNvPr id="24" name="Text 22"/>
          <p:cNvSpPr/>
          <p:nvPr/>
        </p:nvSpPr>
        <p:spPr>
          <a:xfrm>
            <a:off x="786384" y="5285232"/>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Billing from overseas, failing the established-relationship rule, face-to-face item numbers used for phone items.</a:t>
            </a:r>
            <a:endParaRPr lang="en-US" sz="980" dirty="0"/>
          </a:p>
        </p:txBody>
      </p:sp>
      <p:sp>
        <p:nvSpPr>
          <p:cNvPr id="25" name="Shape 23"/>
          <p:cNvSpPr/>
          <p:nvPr/>
        </p:nvSpPr>
        <p:spPr>
          <a:xfrm>
            <a:off x="4279392" y="4608576"/>
            <a:ext cx="3511296" cy="1325880"/>
          </a:xfrm>
          <a:prstGeom prst="roundRect">
            <a:avLst>
              <a:gd name="adj" fmla="val 6897"/>
            </a:avLst>
          </a:prstGeom>
          <a:solidFill>
            <a:srgbClr val="EEF3F5"/>
          </a:solidFill>
          <a:ln w="9525">
            <a:solidFill>
              <a:srgbClr val="DCE6EA"/>
            </a:solidFill>
            <a:prstDash val="solid"/>
          </a:ln>
        </p:spPr>
      </p:sp>
      <p:sp>
        <p:nvSpPr>
          <p:cNvPr id="26" name="Text 24"/>
          <p:cNvSpPr/>
          <p:nvPr/>
        </p:nvSpPr>
        <p:spPr>
          <a:xfrm>
            <a:off x="4517136" y="4773168"/>
            <a:ext cx="3035808" cy="420624"/>
          </a:xfrm>
          <a:prstGeom prst="rect">
            <a:avLst/>
          </a:prstGeom>
          <a:noFill/>
          <a:ln/>
        </p:spPr>
        <p:txBody>
          <a:bodyPr wrap="square" lIns="0" tIns="0" rIns="0" bIns="0" rtlCol="0" anchor="ctr"/>
          <a:lstStyle/>
          <a:p>
            <a:pPr indent="0" marL="0">
              <a:buNone/>
            </a:pPr>
            <a:r>
              <a:rPr lang="en-US" sz="1250" b="1" dirty="0">
                <a:solidFill>
                  <a:srgbClr val="6B4A7A"/>
                </a:solidFill>
                <a:latin typeface="Calibri" pitchFamily="34" charset="0"/>
                <a:ea typeface="Calibri" pitchFamily="34" charset="-122"/>
                <a:cs typeface="Calibri" pitchFamily="34" charset="-120"/>
              </a:rPr>
              <a:t>Co-claiming and unbundling</a:t>
            </a:r>
            <a:endParaRPr lang="en-US" sz="1250" dirty="0"/>
          </a:p>
        </p:txBody>
      </p:sp>
      <p:sp>
        <p:nvSpPr>
          <p:cNvPr id="27" name="Text 25"/>
          <p:cNvSpPr/>
          <p:nvPr/>
        </p:nvSpPr>
        <p:spPr>
          <a:xfrm>
            <a:off x="4517136" y="5285232"/>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Restricted combinations claimed together; one item split into several.</a:t>
            </a:r>
            <a:endParaRPr lang="en-US" sz="980" dirty="0"/>
          </a:p>
        </p:txBody>
      </p:sp>
      <p:sp>
        <p:nvSpPr>
          <p:cNvPr id="28" name="Shape 26"/>
          <p:cNvSpPr/>
          <p:nvPr/>
        </p:nvSpPr>
        <p:spPr>
          <a:xfrm>
            <a:off x="8010144" y="4608576"/>
            <a:ext cx="3511296" cy="1325880"/>
          </a:xfrm>
          <a:prstGeom prst="roundRect">
            <a:avLst>
              <a:gd name="adj" fmla="val 6897"/>
            </a:avLst>
          </a:prstGeom>
          <a:solidFill>
            <a:srgbClr val="EEF3F5"/>
          </a:solidFill>
          <a:ln w="9525">
            <a:solidFill>
              <a:srgbClr val="DCE6EA"/>
            </a:solidFill>
            <a:prstDash val="solid"/>
          </a:ln>
        </p:spPr>
      </p:sp>
      <p:sp>
        <p:nvSpPr>
          <p:cNvPr id="29" name="Text 27"/>
          <p:cNvSpPr/>
          <p:nvPr/>
        </p:nvSpPr>
        <p:spPr>
          <a:xfrm>
            <a:off x="8247888" y="4773168"/>
            <a:ext cx="3035808" cy="420624"/>
          </a:xfrm>
          <a:prstGeom prst="rect">
            <a:avLst/>
          </a:prstGeom>
          <a:noFill/>
          <a:ln/>
        </p:spPr>
        <p:txBody>
          <a:bodyPr wrap="square" lIns="0" tIns="0" rIns="0" bIns="0" rtlCol="0" anchor="ctr"/>
          <a:lstStyle/>
          <a:p>
            <a:pPr indent="0" marL="0">
              <a:buNone/>
            </a:pPr>
            <a:r>
              <a:rPr lang="en-US" sz="1250" b="1" dirty="0">
                <a:solidFill>
                  <a:srgbClr val="3F7D5C"/>
                </a:solidFill>
                <a:latin typeface="Calibri" pitchFamily="34" charset="0"/>
                <a:ea typeface="Calibri" pitchFamily="34" charset="-122"/>
                <a:cs typeface="Calibri" pitchFamily="34" charset="-120"/>
              </a:rPr>
              <a:t>Prescribed patterns</a:t>
            </a:r>
            <a:endParaRPr lang="en-US" sz="1250" dirty="0"/>
          </a:p>
        </p:txBody>
      </p:sp>
      <p:sp>
        <p:nvSpPr>
          <p:cNvPr id="30" name="Text 28"/>
          <p:cNvSpPr/>
          <p:nvPr/>
        </p:nvSpPr>
        <p:spPr>
          <a:xfrm>
            <a:off x="8247888" y="5285232"/>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80 or more items on 20 or more days; 30 or more phone items on 20 or more days. Referral is mandatory.</a:t>
            </a:r>
            <a:endParaRPr lang="en-US" sz="980" dirty="0"/>
          </a:p>
        </p:txBody>
      </p:sp>
      <p:sp>
        <p:nvSpPr>
          <p:cNvPr id="31" name="Text 29"/>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PSR Annual Report 2024-25; Department of Health Practitioner Review Program; RSM Australia. Prevalence percentages circulated by advocacy bodies are not government statistics and are excluded here.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How big is the leakage</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Estimates vary by a factor of five. The official figure is the conservative one.</a:t>
            </a:r>
            <a:endParaRPr lang="en-US" sz="1300" dirty="0"/>
          </a:p>
        </p:txBody>
      </p:sp>
      <p:sp>
        <p:nvSpPr>
          <p:cNvPr id="4" name="Shape 2"/>
          <p:cNvSpPr/>
          <p:nvPr/>
        </p:nvSpPr>
        <p:spPr>
          <a:xfrm>
            <a:off x="548640" y="1700784"/>
            <a:ext cx="2651760" cy="566928"/>
          </a:xfrm>
          <a:prstGeom prst="rect">
            <a:avLst/>
          </a:prstGeom>
          <a:solidFill>
            <a:srgbClr val="EEF3F5"/>
          </a:solidFill>
          <a:ln w="9525">
            <a:solidFill>
              <a:srgbClr val="DCE6EA"/>
            </a:solidFill>
            <a:prstDash val="solid"/>
          </a:ln>
        </p:spPr>
      </p:sp>
      <p:sp>
        <p:nvSpPr>
          <p:cNvPr id="5" name="Shape 3"/>
          <p:cNvSpPr/>
          <p:nvPr/>
        </p:nvSpPr>
        <p:spPr>
          <a:xfrm>
            <a:off x="3200400" y="1700784"/>
            <a:ext cx="2194560" cy="566928"/>
          </a:xfrm>
          <a:prstGeom prst="rect">
            <a:avLst/>
          </a:prstGeom>
          <a:solidFill>
            <a:srgbClr val="EEF3F5"/>
          </a:solidFill>
          <a:ln w="9525">
            <a:solidFill>
              <a:srgbClr val="DCE6EA"/>
            </a:solidFill>
            <a:prstDash val="solid"/>
          </a:ln>
        </p:spPr>
      </p:sp>
      <p:sp>
        <p:nvSpPr>
          <p:cNvPr id="6" name="Shape 4"/>
          <p:cNvSpPr/>
          <p:nvPr/>
        </p:nvSpPr>
        <p:spPr>
          <a:xfrm>
            <a:off x="5394960" y="1700784"/>
            <a:ext cx="1371600" cy="566928"/>
          </a:xfrm>
          <a:prstGeom prst="rect">
            <a:avLst/>
          </a:prstGeom>
          <a:solidFill>
            <a:srgbClr val="EEF3F5"/>
          </a:solidFill>
          <a:ln w="9525">
            <a:solidFill>
              <a:srgbClr val="DCE6EA"/>
            </a:solidFill>
            <a:prstDash val="solid"/>
          </a:ln>
        </p:spPr>
      </p:sp>
      <p:sp>
        <p:nvSpPr>
          <p:cNvPr id="7" name="Shape 5"/>
          <p:cNvSpPr/>
          <p:nvPr/>
        </p:nvSpPr>
        <p:spPr>
          <a:xfrm>
            <a:off x="6766560" y="1700784"/>
            <a:ext cx="4846320" cy="566928"/>
          </a:xfrm>
          <a:prstGeom prst="rect">
            <a:avLst/>
          </a:prstGeom>
          <a:solidFill>
            <a:srgbClr val="EEF3F5"/>
          </a:solidFill>
          <a:ln w="9525">
            <a:solidFill>
              <a:srgbClr val="DCE6EA"/>
            </a:solidFill>
            <a:prstDash val="solid"/>
          </a:ln>
        </p:spPr>
      </p:sp>
      <p:sp>
        <p:nvSpPr>
          <p:cNvPr id="8" name="Text 6"/>
          <p:cNvSpPr/>
          <p:nvPr/>
        </p:nvSpPr>
        <p:spPr>
          <a:xfrm>
            <a:off x="694944" y="1700784"/>
            <a:ext cx="2377440" cy="566928"/>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Philip Review, 2023</a:t>
            </a:r>
            <a:endParaRPr lang="en-US" sz="1100" dirty="0"/>
          </a:p>
        </p:txBody>
      </p:sp>
      <p:sp>
        <p:nvSpPr>
          <p:cNvPr id="9" name="Text 7"/>
          <p:cNvSpPr/>
          <p:nvPr/>
        </p:nvSpPr>
        <p:spPr>
          <a:xfrm>
            <a:off x="3346704" y="1700784"/>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$1.5bn – $3.0bn</a:t>
            </a:r>
            <a:endParaRPr lang="en-US" sz="1200" dirty="0"/>
          </a:p>
        </p:txBody>
      </p:sp>
      <p:sp>
        <p:nvSpPr>
          <p:cNvPr id="10" name="Text 8"/>
          <p:cNvSpPr/>
          <p:nvPr/>
        </p:nvSpPr>
        <p:spPr>
          <a:xfrm>
            <a:off x="5541264" y="1700784"/>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5–10%</a:t>
            </a:r>
            <a:endParaRPr lang="en-US" sz="1100" dirty="0"/>
          </a:p>
        </p:txBody>
      </p:sp>
      <p:sp>
        <p:nvSpPr>
          <p:cNvPr id="11" name="Text 9"/>
          <p:cNvSpPr/>
          <p:nvPr/>
        </p:nvSpPr>
        <p:spPr>
          <a:xfrm>
            <a:off x="6912864" y="1700784"/>
            <a:ext cx="4572000" cy="566928"/>
          </a:xfrm>
          <a:prstGeom prst="rect">
            <a:avLst/>
          </a:prstGeom>
          <a:noFill/>
          <a:ln/>
        </p:spPr>
        <p:txBody>
          <a:bodyPr wrap="square" lIns="0" tIns="0" rIns="0" bIns="0" rtlCol="0" anchor="ctr"/>
          <a:lstStyle/>
          <a:p>
            <a:pPr indent="0" marL="0">
              <a:buNone/>
            </a:pPr>
            <a:r>
              <a:rPr lang="en-US" sz="1000" i="1" dirty="0">
                <a:solidFill>
                  <a:srgbClr val="5A6B72"/>
                </a:solidFill>
                <a:latin typeface="Calibri" pitchFamily="34" charset="0"/>
                <a:ea typeface="Calibri" pitchFamily="34" charset="-122"/>
                <a:cs typeface="Calibri" pitchFamily="34" charset="-120"/>
              </a:rPr>
              <a:t>The official estimate, on "a conservative definition of non-compliance and fraud"</a:t>
            </a:r>
            <a:endParaRPr lang="en-US" sz="1000" dirty="0"/>
          </a:p>
        </p:txBody>
      </p:sp>
      <p:sp>
        <p:nvSpPr>
          <p:cNvPr id="12" name="Shape 10"/>
          <p:cNvSpPr/>
          <p:nvPr/>
        </p:nvSpPr>
        <p:spPr>
          <a:xfrm>
            <a:off x="548640" y="2267712"/>
            <a:ext cx="2651760" cy="566928"/>
          </a:xfrm>
          <a:prstGeom prst="rect">
            <a:avLst/>
          </a:prstGeom>
          <a:solidFill>
            <a:srgbClr val="FFFFFF"/>
          </a:solidFill>
          <a:ln w="9525">
            <a:solidFill>
              <a:srgbClr val="DCE6EA"/>
            </a:solidFill>
            <a:prstDash val="solid"/>
          </a:ln>
        </p:spPr>
      </p:sp>
      <p:sp>
        <p:nvSpPr>
          <p:cNvPr id="13" name="Shape 11"/>
          <p:cNvSpPr/>
          <p:nvPr/>
        </p:nvSpPr>
        <p:spPr>
          <a:xfrm>
            <a:off x="3200400" y="2267712"/>
            <a:ext cx="2194560" cy="566928"/>
          </a:xfrm>
          <a:prstGeom prst="rect">
            <a:avLst/>
          </a:prstGeom>
          <a:solidFill>
            <a:srgbClr val="FFFFFF"/>
          </a:solidFill>
          <a:ln w="9525">
            <a:solidFill>
              <a:srgbClr val="DCE6EA"/>
            </a:solidFill>
            <a:prstDash val="solid"/>
          </a:ln>
        </p:spPr>
      </p:sp>
      <p:sp>
        <p:nvSpPr>
          <p:cNvPr id="14" name="Shape 12"/>
          <p:cNvSpPr/>
          <p:nvPr/>
        </p:nvSpPr>
        <p:spPr>
          <a:xfrm>
            <a:off x="5394960" y="2267712"/>
            <a:ext cx="1371600" cy="566928"/>
          </a:xfrm>
          <a:prstGeom prst="rect">
            <a:avLst/>
          </a:prstGeom>
          <a:solidFill>
            <a:srgbClr val="FFFFFF"/>
          </a:solidFill>
          <a:ln w="9525">
            <a:solidFill>
              <a:srgbClr val="DCE6EA"/>
            </a:solidFill>
            <a:prstDash val="solid"/>
          </a:ln>
        </p:spPr>
      </p:sp>
      <p:sp>
        <p:nvSpPr>
          <p:cNvPr id="15" name="Shape 13"/>
          <p:cNvSpPr/>
          <p:nvPr/>
        </p:nvSpPr>
        <p:spPr>
          <a:xfrm>
            <a:off x="6766560" y="2267712"/>
            <a:ext cx="4846320" cy="566928"/>
          </a:xfrm>
          <a:prstGeom prst="rect">
            <a:avLst/>
          </a:prstGeom>
          <a:solidFill>
            <a:srgbClr val="FFFFFF"/>
          </a:solidFill>
          <a:ln w="9525">
            <a:solidFill>
              <a:srgbClr val="DCE6EA"/>
            </a:solidFill>
            <a:prstDash val="solid"/>
          </a:ln>
        </p:spPr>
      </p:sp>
      <p:sp>
        <p:nvSpPr>
          <p:cNvPr id="16" name="Text 14"/>
          <p:cNvSpPr/>
          <p:nvPr/>
        </p:nvSpPr>
        <p:spPr>
          <a:xfrm>
            <a:off x="694944" y="2267712"/>
            <a:ext cx="2377440" cy="566928"/>
          </a:xfrm>
          <a:prstGeom prst="rect">
            <a:avLst/>
          </a:prstGeom>
          <a:noFill/>
          <a:ln/>
        </p:spPr>
        <p:txBody>
          <a:bodyPr wrap="square" lIns="0" tIns="0" rIns="0" bIns="0" rtlCol="0" anchor="ctr"/>
          <a:lstStyle/>
          <a:p>
            <a:pPr indent="0" marL="0">
              <a:buNone/>
            </a:pPr>
            <a:r>
              <a:rPr lang="en-US" sz="1100" b="1" dirty="0">
                <a:solidFill>
                  <a:srgbClr val="33454C"/>
                </a:solidFill>
                <a:latin typeface="Calibri" pitchFamily="34" charset="0"/>
                <a:ea typeface="Calibri" pitchFamily="34" charset="-122"/>
                <a:cs typeface="Calibri" pitchFamily="34" charset="-120"/>
              </a:rPr>
              <a:t>McKinsey, 2020</a:t>
            </a:r>
            <a:endParaRPr lang="en-US" sz="1100" dirty="0"/>
          </a:p>
        </p:txBody>
      </p:sp>
      <p:sp>
        <p:nvSpPr>
          <p:cNvPr id="17" name="Text 15"/>
          <p:cNvSpPr/>
          <p:nvPr/>
        </p:nvSpPr>
        <p:spPr>
          <a:xfrm>
            <a:off x="3346704" y="2267712"/>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$1.8bn</a:t>
            </a:r>
            <a:endParaRPr lang="en-US" sz="1200" dirty="0"/>
          </a:p>
        </p:txBody>
      </p:sp>
      <p:sp>
        <p:nvSpPr>
          <p:cNvPr id="18" name="Text 16"/>
          <p:cNvSpPr/>
          <p:nvPr/>
        </p:nvSpPr>
        <p:spPr>
          <a:xfrm>
            <a:off x="5541264" y="2267712"/>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6%</a:t>
            </a:r>
            <a:endParaRPr lang="en-US" sz="1100" dirty="0"/>
          </a:p>
        </p:txBody>
      </p:sp>
      <p:sp>
        <p:nvSpPr>
          <p:cNvPr id="19" name="Text 17"/>
          <p:cNvSpPr/>
          <p:nvPr/>
        </p:nvSpPr>
        <p:spPr>
          <a:xfrm>
            <a:off x="6912864" y="2267712"/>
            <a:ext cx="4572000" cy="566928"/>
          </a:xfrm>
          <a:prstGeom prst="rect">
            <a:avLst/>
          </a:prstGeom>
          <a:noFill/>
          <a:ln/>
        </p:spPr>
        <p:txBody>
          <a:bodyPr wrap="square" lIns="0" tIns="0" rIns="0" bIns="0" rtlCol="0" anchor="ctr"/>
          <a:lstStyle/>
          <a:p>
            <a:pPr indent="0" marL="0">
              <a:buNone/>
            </a:pPr>
            <a:endParaRPr lang="en-US" sz="1000" dirty="0"/>
          </a:p>
        </p:txBody>
      </p:sp>
      <p:sp>
        <p:nvSpPr>
          <p:cNvPr id="20" name="Shape 18"/>
          <p:cNvSpPr/>
          <p:nvPr/>
        </p:nvSpPr>
        <p:spPr>
          <a:xfrm>
            <a:off x="548640" y="2834640"/>
            <a:ext cx="2651760" cy="566928"/>
          </a:xfrm>
          <a:prstGeom prst="rect">
            <a:avLst/>
          </a:prstGeom>
          <a:solidFill>
            <a:srgbClr val="EEF3F5"/>
          </a:solidFill>
          <a:ln w="9525">
            <a:solidFill>
              <a:srgbClr val="DCE6EA"/>
            </a:solidFill>
            <a:prstDash val="solid"/>
          </a:ln>
        </p:spPr>
      </p:sp>
      <p:sp>
        <p:nvSpPr>
          <p:cNvPr id="21" name="Shape 19"/>
          <p:cNvSpPr/>
          <p:nvPr/>
        </p:nvSpPr>
        <p:spPr>
          <a:xfrm>
            <a:off x="3200400" y="2834640"/>
            <a:ext cx="2194560" cy="566928"/>
          </a:xfrm>
          <a:prstGeom prst="rect">
            <a:avLst/>
          </a:prstGeom>
          <a:solidFill>
            <a:srgbClr val="EEF3F5"/>
          </a:solidFill>
          <a:ln w="9525">
            <a:solidFill>
              <a:srgbClr val="DCE6EA"/>
            </a:solidFill>
            <a:prstDash val="solid"/>
          </a:ln>
        </p:spPr>
      </p:sp>
      <p:sp>
        <p:nvSpPr>
          <p:cNvPr id="22" name="Shape 20"/>
          <p:cNvSpPr/>
          <p:nvPr/>
        </p:nvSpPr>
        <p:spPr>
          <a:xfrm>
            <a:off x="5394960" y="2834640"/>
            <a:ext cx="1371600" cy="566928"/>
          </a:xfrm>
          <a:prstGeom prst="rect">
            <a:avLst/>
          </a:prstGeom>
          <a:solidFill>
            <a:srgbClr val="EEF3F5"/>
          </a:solidFill>
          <a:ln w="9525">
            <a:solidFill>
              <a:srgbClr val="DCE6EA"/>
            </a:solidFill>
            <a:prstDash val="solid"/>
          </a:ln>
        </p:spPr>
      </p:sp>
      <p:sp>
        <p:nvSpPr>
          <p:cNvPr id="23" name="Shape 21"/>
          <p:cNvSpPr/>
          <p:nvPr/>
        </p:nvSpPr>
        <p:spPr>
          <a:xfrm>
            <a:off x="6766560" y="2834640"/>
            <a:ext cx="4846320" cy="566928"/>
          </a:xfrm>
          <a:prstGeom prst="rect">
            <a:avLst/>
          </a:prstGeom>
          <a:solidFill>
            <a:srgbClr val="EEF3F5"/>
          </a:solidFill>
          <a:ln w="9525">
            <a:solidFill>
              <a:srgbClr val="DCE6EA"/>
            </a:solidFill>
            <a:prstDash val="solid"/>
          </a:ln>
        </p:spPr>
      </p:sp>
      <p:sp>
        <p:nvSpPr>
          <p:cNvPr id="24" name="Text 22"/>
          <p:cNvSpPr/>
          <p:nvPr/>
        </p:nvSpPr>
        <p:spPr>
          <a:xfrm>
            <a:off x="694944" y="2834640"/>
            <a:ext cx="2377440" cy="566928"/>
          </a:xfrm>
          <a:prstGeom prst="rect">
            <a:avLst/>
          </a:prstGeom>
          <a:noFill/>
          <a:ln/>
        </p:spPr>
        <p:txBody>
          <a:bodyPr wrap="square" lIns="0" tIns="0" rIns="0" bIns="0" rtlCol="0" anchor="ctr"/>
          <a:lstStyle/>
          <a:p>
            <a:pPr indent="0" marL="0">
              <a:buNone/>
            </a:pPr>
            <a:r>
              <a:rPr lang="en-US" sz="1100" b="1" dirty="0">
                <a:solidFill>
                  <a:srgbClr val="33454C"/>
                </a:solidFill>
                <a:latin typeface="Calibri" pitchFamily="34" charset="0"/>
                <a:ea typeface="Calibri" pitchFamily="34" charset="-122"/>
                <a:cs typeface="Calibri" pitchFamily="34" charset="-120"/>
              </a:rPr>
              <a:t>Webber, 2012</a:t>
            </a:r>
            <a:endParaRPr lang="en-US" sz="1100" dirty="0"/>
          </a:p>
        </p:txBody>
      </p:sp>
      <p:sp>
        <p:nvSpPr>
          <p:cNvPr id="25" name="Text 23"/>
          <p:cNvSpPr/>
          <p:nvPr/>
        </p:nvSpPr>
        <p:spPr>
          <a:xfrm>
            <a:off x="3346704" y="2834640"/>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$2.4bn – $3.6bn</a:t>
            </a:r>
            <a:endParaRPr lang="en-US" sz="1200" dirty="0"/>
          </a:p>
        </p:txBody>
      </p:sp>
      <p:sp>
        <p:nvSpPr>
          <p:cNvPr id="26" name="Text 24"/>
          <p:cNvSpPr/>
          <p:nvPr/>
        </p:nvSpPr>
        <p:spPr>
          <a:xfrm>
            <a:off x="5541264" y="2834640"/>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8–12%</a:t>
            </a:r>
            <a:endParaRPr lang="en-US" sz="1100" dirty="0"/>
          </a:p>
        </p:txBody>
      </p:sp>
      <p:sp>
        <p:nvSpPr>
          <p:cNvPr id="27" name="Text 25"/>
          <p:cNvSpPr/>
          <p:nvPr/>
        </p:nvSpPr>
        <p:spPr>
          <a:xfrm>
            <a:off x="6912864" y="2834640"/>
            <a:ext cx="4572000" cy="566928"/>
          </a:xfrm>
          <a:prstGeom prst="rect">
            <a:avLst/>
          </a:prstGeom>
          <a:noFill/>
          <a:ln/>
        </p:spPr>
        <p:txBody>
          <a:bodyPr wrap="square" lIns="0" tIns="0" rIns="0" bIns="0" rtlCol="0" anchor="ctr"/>
          <a:lstStyle/>
          <a:p>
            <a:pPr indent="0" marL="0">
              <a:buNone/>
            </a:pPr>
            <a:endParaRPr lang="en-US" sz="1000" dirty="0"/>
          </a:p>
        </p:txBody>
      </p:sp>
      <p:sp>
        <p:nvSpPr>
          <p:cNvPr id="28" name="Shape 26"/>
          <p:cNvSpPr/>
          <p:nvPr/>
        </p:nvSpPr>
        <p:spPr>
          <a:xfrm>
            <a:off x="548640" y="3401568"/>
            <a:ext cx="2651760" cy="566928"/>
          </a:xfrm>
          <a:prstGeom prst="rect">
            <a:avLst/>
          </a:prstGeom>
          <a:solidFill>
            <a:srgbClr val="FFFFFF"/>
          </a:solidFill>
          <a:ln w="9525">
            <a:solidFill>
              <a:srgbClr val="DCE6EA"/>
            </a:solidFill>
            <a:prstDash val="solid"/>
          </a:ln>
        </p:spPr>
      </p:sp>
      <p:sp>
        <p:nvSpPr>
          <p:cNvPr id="29" name="Shape 27"/>
          <p:cNvSpPr/>
          <p:nvPr/>
        </p:nvSpPr>
        <p:spPr>
          <a:xfrm>
            <a:off x="3200400" y="3401568"/>
            <a:ext cx="2194560" cy="566928"/>
          </a:xfrm>
          <a:prstGeom prst="rect">
            <a:avLst/>
          </a:prstGeom>
          <a:solidFill>
            <a:srgbClr val="FFFFFF"/>
          </a:solidFill>
          <a:ln w="9525">
            <a:solidFill>
              <a:srgbClr val="DCE6EA"/>
            </a:solidFill>
            <a:prstDash val="solid"/>
          </a:ln>
        </p:spPr>
      </p:sp>
      <p:sp>
        <p:nvSpPr>
          <p:cNvPr id="30" name="Shape 28"/>
          <p:cNvSpPr/>
          <p:nvPr/>
        </p:nvSpPr>
        <p:spPr>
          <a:xfrm>
            <a:off x="5394960" y="3401568"/>
            <a:ext cx="1371600" cy="566928"/>
          </a:xfrm>
          <a:prstGeom prst="rect">
            <a:avLst/>
          </a:prstGeom>
          <a:solidFill>
            <a:srgbClr val="FFFFFF"/>
          </a:solidFill>
          <a:ln w="9525">
            <a:solidFill>
              <a:srgbClr val="DCE6EA"/>
            </a:solidFill>
            <a:prstDash val="solid"/>
          </a:ln>
        </p:spPr>
      </p:sp>
      <p:sp>
        <p:nvSpPr>
          <p:cNvPr id="31" name="Shape 29"/>
          <p:cNvSpPr/>
          <p:nvPr/>
        </p:nvSpPr>
        <p:spPr>
          <a:xfrm>
            <a:off x="6766560" y="3401568"/>
            <a:ext cx="4846320" cy="566928"/>
          </a:xfrm>
          <a:prstGeom prst="rect">
            <a:avLst/>
          </a:prstGeom>
          <a:solidFill>
            <a:srgbClr val="FFFFFF"/>
          </a:solidFill>
          <a:ln w="9525">
            <a:solidFill>
              <a:srgbClr val="DCE6EA"/>
            </a:solidFill>
            <a:prstDash val="solid"/>
          </a:ln>
        </p:spPr>
      </p:sp>
      <p:sp>
        <p:nvSpPr>
          <p:cNvPr id="32" name="Text 30"/>
          <p:cNvSpPr/>
          <p:nvPr/>
        </p:nvSpPr>
        <p:spPr>
          <a:xfrm>
            <a:off x="694944" y="3401568"/>
            <a:ext cx="2377440" cy="566928"/>
          </a:xfrm>
          <a:prstGeom prst="rect">
            <a:avLst/>
          </a:prstGeom>
          <a:noFill/>
          <a:ln/>
        </p:spPr>
        <p:txBody>
          <a:bodyPr wrap="square" lIns="0" tIns="0" rIns="0" bIns="0" rtlCol="0" anchor="ctr"/>
          <a:lstStyle/>
          <a:p>
            <a:pPr indent="0" marL="0">
              <a:buNone/>
            </a:pPr>
            <a:r>
              <a:rPr lang="en-US" sz="1100" b="1" dirty="0">
                <a:solidFill>
                  <a:srgbClr val="33454C"/>
                </a:solidFill>
                <a:latin typeface="Calibri" pitchFamily="34" charset="0"/>
                <a:ea typeface="Calibri" pitchFamily="34" charset="-122"/>
                <a:cs typeface="Calibri" pitchFamily="34" charset="-120"/>
              </a:rPr>
              <a:t>Flynn, 2021</a:t>
            </a:r>
            <a:endParaRPr lang="en-US" sz="1100" dirty="0"/>
          </a:p>
        </p:txBody>
      </p:sp>
      <p:sp>
        <p:nvSpPr>
          <p:cNvPr id="33" name="Text 31"/>
          <p:cNvSpPr/>
          <p:nvPr/>
        </p:nvSpPr>
        <p:spPr>
          <a:xfrm>
            <a:off x="3346704" y="3401568"/>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$3.0bn – $7.5bn</a:t>
            </a:r>
            <a:endParaRPr lang="en-US" sz="1200" dirty="0"/>
          </a:p>
        </p:txBody>
      </p:sp>
      <p:sp>
        <p:nvSpPr>
          <p:cNvPr id="34" name="Text 32"/>
          <p:cNvSpPr/>
          <p:nvPr/>
        </p:nvSpPr>
        <p:spPr>
          <a:xfrm>
            <a:off x="5541264" y="3401568"/>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10–25%</a:t>
            </a:r>
            <a:endParaRPr lang="en-US" sz="1100" dirty="0"/>
          </a:p>
        </p:txBody>
      </p:sp>
      <p:sp>
        <p:nvSpPr>
          <p:cNvPr id="35" name="Text 33"/>
          <p:cNvSpPr/>
          <p:nvPr/>
        </p:nvSpPr>
        <p:spPr>
          <a:xfrm>
            <a:off x="6912864" y="3401568"/>
            <a:ext cx="4572000" cy="566928"/>
          </a:xfrm>
          <a:prstGeom prst="rect">
            <a:avLst/>
          </a:prstGeom>
          <a:noFill/>
          <a:ln/>
        </p:spPr>
        <p:txBody>
          <a:bodyPr wrap="square" lIns="0" tIns="0" rIns="0" bIns="0" rtlCol="0" anchor="ctr"/>
          <a:lstStyle/>
          <a:p>
            <a:pPr indent="0" marL="0">
              <a:buNone/>
            </a:pPr>
            <a:endParaRPr lang="en-US" sz="1000" dirty="0"/>
          </a:p>
        </p:txBody>
      </p:sp>
      <p:sp>
        <p:nvSpPr>
          <p:cNvPr id="36" name="Shape 34"/>
          <p:cNvSpPr/>
          <p:nvPr/>
        </p:nvSpPr>
        <p:spPr>
          <a:xfrm>
            <a:off x="548640" y="3968496"/>
            <a:ext cx="2651760" cy="566928"/>
          </a:xfrm>
          <a:prstGeom prst="rect">
            <a:avLst/>
          </a:prstGeom>
          <a:solidFill>
            <a:srgbClr val="EEF3F5"/>
          </a:solidFill>
          <a:ln w="9525">
            <a:solidFill>
              <a:srgbClr val="DCE6EA"/>
            </a:solidFill>
            <a:prstDash val="solid"/>
          </a:ln>
        </p:spPr>
      </p:sp>
      <p:sp>
        <p:nvSpPr>
          <p:cNvPr id="37" name="Shape 35"/>
          <p:cNvSpPr/>
          <p:nvPr/>
        </p:nvSpPr>
        <p:spPr>
          <a:xfrm>
            <a:off x="3200400" y="3968496"/>
            <a:ext cx="2194560" cy="566928"/>
          </a:xfrm>
          <a:prstGeom prst="rect">
            <a:avLst/>
          </a:prstGeom>
          <a:solidFill>
            <a:srgbClr val="EEF3F5"/>
          </a:solidFill>
          <a:ln w="9525">
            <a:solidFill>
              <a:srgbClr val="DCE6EA"/>
            </a:solidFill>
            <a:prstDash val="solid"/>
          </a:ln>
        </p:spPr>
      </p:sp>
      <p:sp>
        <p:nvSpPr>
          <p:cNvPr id="38" name="Shape 36"/>
          <p:cNvSpPr/>
          <p:nvPr/>
        </p:nvSpPr>
        <p:spPr>
          <a:xfrm>
            <a:off x="5394960" y="3968496"/>
            <a:ext cx="1371600" cy="566928"/>
          </a:xfrm>
          <a:prstGeom prst="rect">
            <a:avLst/>
          </a:prstGeom>
          <a:solidFill>
            <a:srgbClr val="EEF3F5"/>
          </a:solidFill>
          <a:ln w="9525">
            <a:solidFill>
              <a:srgbClr val="DCE6EA"/>
            </a:solidFill>
            <a:prstDash val="solid"/>
          </a:ln>
        </p:spPr>
      </p:sp>
      <p:sp>
        <p:nvSpPr>
          <p:cNvPr id="39" name="Shape 37"/>
          <p:cNvSpPr/>
          <p:nvPr/>
        </p:nvSpPr>
        <p:spPr>
          <a:xfrm>
            <a:off x="6766560" y="3968496"/>
            <a:ext cx="4846320" cy="566928"/>
          </a:xfrm>
          <a:prstGeom prst="rect">
            <a:avLst/>
          </a:prstGeom>
          <a:solidFill>
            <a:srgbClr val="EEF3F5"/>
          </a:solidFill>
          <a:ln w="9525">
            <a:solidFill>
              <a:srgbClr val="DCE6EA"/>
            </a:solidFill>
            <a:prstDash val="solid"/>
          </a:ln>
        </p:spPr>
      </p:sp>
      <p:sp>
        <p:nvSpPr>
          <p:cNvPr id="40" name="Text 38"/>
          <p:cNvSpPr/>
          <p:nvPr/>
        </p:nvSpPr>
        <p:spPr>
          <a:xfrm>
            <a:off x="694944" y="3968496"/>
            <a:ext cx="2377440" cy="566928"/>
          </a:xfrm>
          <a:prstGeom prst="rect">
            <a:avLst/>
          </a:prstGeom>
          <a:noFill/>
          <a:ln/>
        </p:spPr>
        <p:txBody>
          <a:bodyPr wrap="square" lIns="0" tIns="0" rIns="0" bIns="0" rtlCol="0" anchor="ctr"/>
          <a:lstStyle/>
          <a:p>
            <a:pPr indent="0" marL="0">
              <a:buNone/>
            </a:pPr>
            <a:r>
              <a:rPr lang="en-US" sz="1100" b="1" dirty="0">
                <a:solidFill>
                  <a:srgbClr val="B23A26"/>
                </a:solidFill>
                <a:latin typeface="Calibri" pitchFamily="34" charset="0"/>
                <a:ea typeface="Calibri" pitchFamily="34" charset="-122"/>
                <a:cs typeface="Calibri" pitchFamily="34" charset="-120"/>
              </a:rPr>
              <a:t>Faux, 2023</a:t>
            </a:r>
            <a:endParaRPr lang="en-US" sz="1100" dirty="0"/>
          </a:p>
        </p:txBody>
      </p:sp>
      <p:sp>
        <p:nvSpPr>
          <p:cNvPr id="41" name="Text 39"/>
          <p:cNvSpPr/>
          <p:nvPr/>
        </p:nvSpPr>
        <p:spPr>
          <a:xfrm>
            <a:off x="3346704" y="3968496"/>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$8bn – $10bn</a:t>
            </a:r>
            <a:endParaRPr lang="en-US" sz="1200" dirty="0"/>
          </a:p>
        </p:txBody>
      </p:sp>
      <p:sp>
        <p:nvSpPr>
          <p:cNvPr id="42" name="Text 40"/>
          <p:cNvSpPr/>
          <p:nvPr/>
        </p:nvSpPr>
        <p:spPr>
          <a:xfrm>
            <a:off x="5541264" y="3968496"/>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~30%</a:t>
            </a:r>
            <a:endParaRPr lang="en-US" sz="1100" dirty="0"/>
          </a:p>
        </p:txBody>
      </p:sp>
      <p:sp>
        <p:nvSpPr>
          <p:cNvPr id="43" name="Text 41"/>
          <p:cNvSpPr/>
          <p:nvPr/>
        </p:nvSpPr>
        <p:spPr>
          <a:xfrm>
            <a:off x="6912864" y="3968496"/>
            <a:ext cx="4572000" cy="566928"/>
          </a:xfrm>
          <a:prstGeom prst="rect">
            <a:avLst/>
          </a:prstGeom>
          <a:noFill/>
          <a:ln/>
        </p:spPr>
        <p:txBody>
          <a:bodyPr wrap="square" lIns="0" tIns="0" rIns="0" bIns="0" rtlCol="0" anchor="ctr"/>
          <a:lstStyle/>
          <a:p>
            <a:pPr indent="0" marL="0">
              <a:buNone/>
            </a:pPr>
            <a:r>
              <a:rPr lang="en-US" sz="1000" i="1" dirty="0">
                <a:solidFill>
                  <a:srgbClr val="5A6B72"/>
                </a:solidFill>
                <a:latin typeface="Calibri" pitchFamily="34" charset="0"/>
                <a:ea typeface="Calibri" pitchFamily="34" charset="-122"/>
                <a:cs typeface="Calibri" pitchFamily="34" charset="-120"/>
              </a:rPr>
              <a:t>Not adopted by the review, and disputed on methodology by the colleges</a:t>
            </a:r>
            <a:endParaRPr lang="en-US" sz="1000" dirty="0"/>
          </a:p>
        </p:txBody>
      </p:sp>
      <p:sp>
        <p:nvSpPr>
          <p:cNvPr id="44" name="Shape 42"/>
          <p:cNvSpPr/>
          <p:nvPr/>
        </p:nvSpPr>
        <p:spPr>
          <a:xfrm>
            <a:off x="548640" y="4754880"/>
            <a:ext cx="5486400" cy="960120"/>
          </a:xfrm>
          <a:prstGeom prst="roundRect">
            <a:avLst>
              <a:gd name="adj" fmla="val 9524"/>
            </a:avLst>
          </a:prstGeom>
          <a:solidFill>
            <a:srgbClr val="EEF3F5"/>
          </a:solidFill>
          <a:ln w="9525">
            <a:solidFill>
              <a:srgbClr val="DCE6EA"/>
            </a:solidFill>
            <a:prstDash val="solid"/>
          </a:ln>
        </p:spPr>
      </p:sp>
      <p:sp>
        <p:nvSpPr>
          <p:cNvPr id="45" name="Text 43"/>
          <p:cNvSpPr/>
          <p:nvPr/>
        </p:nvSpPr>
        <p:spPr>
          <a:xfrm>
            <a:off x="786384" y="4919472"/>
            <a:ext cx="5010912" cy="420624"/>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The review’s own conclusion</a:t>
            </a:r>
            <a:endParaRPr lang="en-US" sz="1250" dirty="0"/>
          </a:p>
        </p:txBody>
      </p:sp>
      <p:sp>
        <p:nvSpPr>
          <p:cNvPr id="46" name="Text 44"/>
          <p:cNvSpPr/>
          <p:nvPr/>
        </p:nvSpPr>
        <p:spPr>
          <a:xfrm>
            <a:off x="786384" y="5431536"/>
            <a:ext cx="5010912" cy="10058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Most of the leakage stems from non-compliance and error rather than premeditated fraud. That matters for how a product should be positioned.</a:t>
            </a:r>
            <a:endParaRPr lang="en-US" sz="1050" dirty="0"/>
          </a:p>
        </p:txBody>
      </p:sp>
      <p:sp>
        <p:nvSpPr>
          <p:cNvPr id="47" name="Shape 45"/>
          <p:cNvSpPr/>
          <p:nvPr/>
        </p:nvSpPr>
        <p:spPr>
          <a:xfrm>
            <a:off x="6309360" y="4754880"/>
            <a:ext cx="5852160" cy="960120"/>
          </a:xfrm>
          <a:prstGeom prst="roundRect">
            <a:avLst>
              <a:gd name="adj" fmla="val 9524"/>
            </a:avLst>
          </a:prstGeom>
          <a:solidFill>
            <a:srgbClr val="EEF3F5"/>
          </a:solidFill>
          <a:ln w="9525">
            <a:solidFill>
              <a:srgbClr val="DCE6EA"/>
            </a:solidFill>
            <a:prstDash val="solid"/>
          </a:ln>
        </p:spPr>
      </p:sp>
      <p:sp>
        <p:nvSpPr>
          <p:cNvPr id="48" name="Text 46"/>
          <p:cNvSpPr/>
          <p:nvPr/>
        </p:nvSpPr>
        <p:spPr>
          <a:xfrm>
            <a:off x="6547104" y="4919472"/>
            <a:ext cx="5376672"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And the money going the other way</a:t>
            </a:r>
            <a:endParaRPr lang="en-US" sz="1250" dirty="0"/>
          </a:p>
        </p:txBody>
      </p:sp>
      <p:sp>
        <p:nvSpPr>
          <p:cNvPr id="49" name="Text 47"/>
          <p:cNvSpPr/>
          <p:nvPr/>
        </p:nvSpPr>
        <p:spPr>
          <a:xfrm>
            <a:off x="6547104" y="5431536"/>
            <a:ext cx="5376672" cy="10058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$146.8m over four years from 2026-27 for Medicare integrity capability, with $674.1m in savings forecast over the same period.</a:t>
            </a:r>
            <a:endParaRPr lang="en-US" sz="1050" dirty="0"/>
          </a:p>
        </p:txBody>
      </p:sp>
      <p:sp>
        <p:nvSpPr>
          <p:cNvPr id="50" name="Text 48"/>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Philip Review, April 2023; RACGP 2026-27 Budget analysis. Estimates other than the Philip Review are third-party and were not adopted by government.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Where assignment of benefit sits in this picture</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The reform exists because of an integrity finding — and consent is the one control the practice holds.</a:t>
            </a:r>
            <a:endParaRPr lang="en-US" sz="1300" dirty="0"/>
          </a:p>
        </p:txBody>
      </p:sp>
      <p:sp>
        <p:nvSpPr>
          <p:cNvPr id="4" name="Shape 2"/>
          <p:cNvSpPr/>
          <p:nvPr/>
        </p:nvSpPr>
        <p:spPr>
          <a:xfrm>
            <a:off x="548640" y="1664208"/>
            <a:ext cx="5486400" cy="2011680"/>
          </a:xfrm>
          <a:prstGeom prst="roundRect">
            <a:avLst>
              <a:gd name="adj" fmla="val 4545"/>
            </a:avLst>
          </a:prstGeom>
          <a:solidFill>
            <a:srgbClr val="EEF3F5"/>
          </a:solidFill>
          <a:ln w="9525">
            <a:solidFill>
              <a:srgbClr val="DCE6EA"/>
            </a:solidFill>
            <a:prstDash val="solid"/>
          </a:ln>
        </p:spPr>
      </p:sp>
      <p:sp>
        <p:nvSpPr>
          <p:cNvPr id="5" name="Text 3"/>
          <p:cNvSpPr/>
          <p:nvPr/>
        </p:nvSpPr>
        <p:spPr>
          <a:xfrm>
            <a:off x="786384" y="1828800"/>
            <a:ext cx="5010912" cy="420624"/>
          </a:xfrm>
          <a:prstGeom prst="rect">
            <a:avLst/>
          </a:prstGeom>
          <a:noFill/>
          <a:ln/>
        </p:spPr>
        <p:txBody>
          <a:bodyPr wrap="square" lIns="0" tIns="0" rIns="0" bIns="0" rtlCol="0" anchor="ctr"/>
          <a:lstStyle/>
          <a:p>
            <a:pPr indent="0" marL="0">
              <a:buNone/>
            </a:pPr>
            <a:r>
              <a:rPr lang="en-US" sz="1250" b="1" dirty="0">
                <a:solidFill>
                  <a:srgbClr val="6B4A7A"/>
                </a:solidFill>
                <a:latin typeface="Calibri" pitchFamily="34" charset="0"/>
                <a:ea typeface="Calibri" pitchFamily="34" charset="-122"/>
                <a:cs typeface="Calibri" pitchFamily="34" charset="-120"/>
              </a:rPr>
              <a:t>Why the rules changed</a:t>
            </a:r>
            <a:endParaRPr lang="en-US" sz="1250" dirty="0"/>
          </a:p>
        </p:txBody>
      </p:sp>
      <p:sp>
        <p:nvSpPr>
          <p:cNvPr id="6" name="Text 4"/>
          <p:cNvSpPr/>
          <p:nvPr/>
        </p:nvSpPr>
        <p:spPr>
          <a:xfrm>
            <a:off x="786384" y="2340864"/>
            <a:ext cx="5010912" cy="115214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In January 2023 the national audit office found there could be legal risk in assigning benefits verbally. The Minister directed the Department to modernise the process for all bulk-billed items, to safeguard payment integrity and improve record keeping. Everything since follows from that finding.</a:t>
            </a:r>
            <a:endParaRPr lang="en-US" sz="1050" dirty="0"/>
          </a:p>
        </p:txBody>
      </p:sp>
      <p:sp>
        <p:nvSpPr>
          <p:cNvPr id="7" name="Shape 5"/>
          <p:cNvSpPr/>
          <p:nvPr/>
        </p:nvSpPr>
        <p:spPr>
          <a:xfrm>
            <a:off x="6309360" y="1664208"/>
            <a:ext cx="5852160" cy="2011680"/>
          </a:xfrm>
          <a:prstGeom prst="roundRect">
            <a:avLst>
              <a:gd name="adj" fmla="val 4545"/>
            </a:avLst>
          </a:prstGeom>
          <a:solidFill>
            <a:srgbClr val="EEF3F5"/>
          </a:solidFill>
          <a:ln w="9525">
            <a:solidFill>
              <a:srgbClr val="DCE6EA"/>
            </a:solidFill>
            <a:prstDash val="solid"/>
          </a:ln>
        </p:spPr>
      </p:sp>
      <p:sp>
        <p:nvSpPr>
          <p:cNvPr id="8" name="Text 6"/>
          <p:cNvSpPr/>
          <p:nvPr/>
        </p:nvSpPr>
        <p:spPr>
          <a:xfrm>
            <a:off x="6547104" y="1828800"/>
            <a:ext cx="5376672" cy="420624"/>
          </a:xfrm>
          <a:prstGeom prst="rect">
            <a:avLst/>
          </a:prstGeom>
          <a:noFill/>
          <a:ln/>
        </p:spPr>
        <p:txBody>
          <a:bodyPr wrap="square" lIns="0" tIns="0" rIns="0" bIns="0" rtlCol="0" anchor="ctr"/>
          <a:lstStyle/>
          <a:p>
            <a:pPr indent="0" marL="0">
              <a:buNone/>
            </a:pPr>
            <a:r>
              <a:rPr lang="en-US" sz="1250" b="1" dirty="0">
                <a:solidFill>
                  <a:srgbClr val="B23A26"/>
                </a:solidFill>
                <a:latin typeface="Calibri" pitchFamily="34" charset="0"/>
                <a:ea typeface="Calibri" pitchFamily="34" charset="-122"/>
                <a:cs typeface="Calibri" pitchFamily="34" charset="-120"/>
              </a:rPr>
              <a:t>And the enforcement reach widened</a:t>
            </a:r>
            <a:endParaRPr lang="en-US" sz="1250" dirty="0"/>
          </a:p>
        </p:txBody>
      </p:sp>
      <p:sp>
        <p:nvSpPr>
          <p:cNvPr id="9" name="Text 7"/>
          <p:cNvSpPr/>
          <p:nvPr/>
        </p:nvSpPr>
        <p:spPr>
          <a:xfrm>
            <a:off x="6547104" y="2340864"/>
            <a:ext cx="5376672" cy="115214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The September 2025 Act added money laundering, forgery and identity fraud to the offences that can be pursued, widened the class of parties who can be compelled to produce information, and removed restrictions on using review information as evidence in prosecutions and practitioner-regulator proceedings.</a:t>
            </a:r>
            <a:endParaRPr lang="en-US" sz="1050" dirty="0"/>
          </a:p>
        </p:txBody>
      </p:sp>
      <p:sp>
        <p:nvSpPr>
          <p:cNvPr id="10" name="Shape 8"/>
          <p:cNvSpPr/>
          <p:nvPr/>
        </p:nvSpPr>
        <p:spPr>
          <a:xfrm>
            <a:off x="548640" y="3840480"/>
            <a:ext cx="11064240" cy="1874520"/>
          </a:xfrm>
          <a:prstGeom prst="roundRect">
            <a:avLst>
              <a:gd name="adj" fmla="val 4878"/>
            </a:avLst>
          </a:prstGeom>
          <a:solidFill>
            <a:srgbClr val="EEF3F5"/>
          </a:solidFill>
          <a:ln w="9525">
            <a:solidFill>
              <a:srgbClr val="DCE6EA"/>
            </a:solidFill>
            <a:prstDash val="solid"/>
          </a:ln>
        </p:spPr>
      </p:sp>
      <p:sp>
        <p:nvSpPr>
          <p:cNvPr id="11" name="Text 9"/>
          <p:cNvSpPr/>
          <p:nvPr/>
        </p:nvSpPr>
        <p:spPr>
          <a:xfrm>
            <a:off x="841248" y="3968496"/>
            <a:ext cx="10479024" cy="365760"/>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What a consent platform actually contributes to integrity</a:t>
            </a:r>
            <a:endParaRPr lang="en-US" sz="1400" dirty="0"/>
          </a:p>
        </p:txBody>
      </p:sp>
      <p:sp>
        <p:nvSpPr>
          <p:cNvPr id="12" name="Text 10"/>
          <p:cNvSpPr/>
          <p:nvPr/>
        </p:nvSpPr>
        <p:spPr>
          <a:xfrm>
            <a:off x="841248" y="4370832"/>
            <a:ext cx="5303520" cy="12344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Consent that is verified rather than asserted, and evidenced rather than remembered</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A retrievable artefact for the full two years, hashed and tamper-evident</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Delivery evidence for every notice the regulation requires</a:t>
            </a:r>
            <a:endParaRPr lang="en-US" sz="1050" dirty="0"/>
          </a:p>
        </p:txBody>
      </p:sp>
      <p:sp>
        <p:nvSpPr>
          <p:cNvPr id="13" name="Text 11"/>
          <p:cNvSpPr/>
          <p:nvPr/>
        </p:nvSpPr>
        <p:spPr>
          <a:xfrm>
            <a:off x="6492240" y="4370832"/>
            <a:ext cx="5212080" cy="12344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Signature dynamics, device and velocity signals that a paper pad simply does not leave</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Agreement lifecycle visible, so a ceased agreement stops being relied on</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A patient channel — the only party in the chain with no reason to misstate anything</a:t>
            </a:r>
            <a:endParaRPr lang="en-US" sz="1050" dirty="0"/>
          </a:p>
        </p:txBody>
      </p:sp>
      <p:sp>
        <p:nvSpPr>
          <p:cNvPr id="14" name="Text 12"/>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ANAO, Expansion of Medicare Telehealth Services, January 2023; Health Legislation Amendment (Improved Medicare Integrity and Other Measures) Act 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1737360" y="4114800"/>
            <a:ext cx="4389120" cy="4389120"/>
          </a:xfrm>
          <a:prstGeom prst="ellipse">
            <a:avLst/>
          </a:prstGeom>
          <a:solidFill>
            <a:srgbClr val="14505F"/>
          </a:solidFill>
          <a:ln/>
        </p:spPr>
      </p:sp>
      <p:sp>
        <p:nvSpPr>
          <p:cNvPr id="3" name="Text 1"/>
          <p:cNvSpPr/>
          <p:nvPr/>
        </p:nvSpPr>
        <p:spPr>
          <a:xfrm>
            <a:off x="548640" y="658368"/>
            <a:ext cx="8595360" cy="658368"/>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What this means for the design</a:t>
            </a:r>
            <a:endParaRPr lang="en-US" sz="3300" dirty="0"/>
          </a:p>
        </p:txBody>
      </p:sp>
      <p:sp>
        <p:nvSpPr>
          <p:cNvPr id="4" name="Text 2"/>
          <p:cNvSpPr/>
          <p:nvPr/>
        </p:nvSpPr>
        <p:spPr>
          <a:xfrm>
            <a:off x="548640" y="1335024"/>
            <a:ext cx="8595360" cy="365760"/>
          </a:xfrm>
          <a:prstGeom prst="rect">
            <a:avLst/>
          </a:prstGeom>
          <a:noFill/>
          <a:ln/>
        </p:spPr>
        <p:txBody>
          <a:bodyPr wrap="square" lIns="0" tIns="0" rIns="0" bIns="0" rtlCol="0" anchor="ctr"/>
          <a:lstStyle/>
          <a:p>
            <a:pPr indent="0" marL="0">
              <a:buNone/>
            </a:pPr>
            <a:r>
              <a:rPr lang="en-US" sz="1400" i="1" dirty="0">
                <a:solidFill>
                  <a:srgbClr val="A8CBD6"/>
                </a:solidFill>
                <a:latin typeface="Calibri" pitchFamily="34" charset="0"/>
                <a:ea typeface="Calibri" pitchFamily="34" charset="-122"/>
                <a:cs typeface="Calibri" pitchFamily="34" charset="-120"/>
              </a:rPr>
              <a:t>Four conclusions that follow directly from how the money and the controls actually work</a:t>
            </a:r>
            <a:endParaRPr lang="en-US" sz="1400" dirty="0"/>
          </a:p>
        </p:txBody>
      </p:sp>
      <p:sp>
        <p:nvSpPr>
          <p:cNvPr id="5" name="Shape 3"/>
          <p:cNvSpPr/>
          <p:nvPr/>
        </p:nvSpPr>
        <p:spPr>
          <a:xfrm>
            <a:off x="548640" y="1993392"/>
            <a:ext cx="5440680" cy="1444752"/>
          </a:xfrm>
          <a:prstGeom prst="roundRect">
            <a:avLst>
              <a:gd name="adj" fmla="val 6329"/>
            </a:avLst>
          </a:prstGeom>
          <a:solidFill>
            <a:srgbClr val="103F4C"/>
          </a:solidFill>
          <a:ln w="12700">
            <a:solidFill>
              <a:srgbClr val="2A6B7C"/>
            </a:solidFill>
            <a:prstDash val="solid"/>
          </a:ln>
        </p:spPr>
      </p:sp>
      <p:sp>
        <p:nvSpPr>
          <p:cNvPr id="6" name="Shape 4"/>
          <p:cNvSpPr/>
          <p:nvPr/>
        </p:nvSpPr>
        <p:spPr>
          <a:xfrm>
            <a:off x="786384" y="2212848"/>
            <a:ext cx="384048" cy="384048"/>
          </a:xfrm>
          <a:prstGeom prst="ellipse">
            <a:avLst/>
          </a:prstGeom>
          <a:solidFill>
            <a:srgbClr val="F0B95E"/>
          </a:solidFill>
          <a:ln/>
        </p:spPr>
      </p:sp>
      <p:sp>
        <p:nvSpPr>
          <p:cNvPr id="7" name="Text 5"/>
          <p:cNvSpPr/>
          <p:nvPr/>
        </p:nvSpPr>
        <p:spPr>
          <a:xfrm>
            <a:off x="786384" y="2212848"/>
            <a:ext cx="384048" cy="384048"/>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80160" y="2194560"/>
            <a:ext cx="4507992"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Watch the provider end</a:t>
            </a:r>
            <a:endParaRPr lang="en-US" sz="1300" dirty="0"/>
          </a:p>
        </p:txBody>
      </p:sp>
      <p:sp>
        <p:nvSpPr>
          <p:cNvPr id="9" name="Text 7"/>
          <p:cNvSpPr/>
          <p:nvPr/>
        </p:nvSpPr>
        <p:spPr>
          <a:xfrm>
            <a:off x="804672" y="2706624"/>
            <a:ext cx="4928616" cy="658368"/>
          </a:xfrm>
          <a:prstGeom prst="rect">
            <a:avLst/>
          </a:prstGeom>
          <a:noFill/>
          <a:ln/>
        </p:spPr>
        <p:txBody>
          <a:bodyPr wrap="square" lIns="0" tIns="0" rIns="0" bIns="0" rtlCol="0" anchor="ctr"/>
          <a:lstStyle/>
          <a:p>
            <a:pPr indent="0" marL="0">
              <a:buNone/>
            </a:pPr>
            <a:r>
              <a:rPr lang="en-US" sz="1050" dirty="0">
                <a:solidFill>
                  <a:srgbClr val="B8D6DF"/>
                </a:solidFill>
                <a:latin typeface="Calibri" pitchFamily="34" charset="0"/>
                <a:ea typeface="Calibri" pitchFamily="34" charset="-122"/>
                <a:cs typeface="Calibri" pitchFamily="34" charset="-120"/>
              </a:rPr>
              <a:t>The benefit is paid to a provider number. Stolen patient data alone has no path to funds, so practitioner-side anomaly detection matters more than patient-side verification.</a:t>
            </a:r>
            <a:endParaRPr lang="en-US" sz="1050" dirty="0"/>
          </a:p>
        </p:txBody>
      </p:sp>
      <p:sp>
        <p:nvSpPr>
          <p:cNvPr id="10" name="Shape 8"/>
          <p:cNvSpPr/>
          <p:nvPr/>
        </p:nvSpPr>
        <p:spPr>
          <a:xfrm>
            <a:off x="6172200" y="1993392"/>
            <a:ext cx="5440680" cy="1444752"/>
          </a:xfrm>
          <a:prstGeom prst="roundRect">
            <a:avLst>
              <a:gd name="adj" fmla="val 6329"/>
            </a:avLst>
          </a:prstGeom>
          <a:solidFill>
            <a:srgbClr val="103F4C"/>
          </a:solidFill>
          <a:ln w="12700">
            <a:solidFill>
              <a:srgbClr val="2A6B7C"/>
            </a:solidFill>
            <a:prstDash val="solid"/>
          </a:ln>
        </p:spPr>
      </p:sp>
      <p:sp>
        <p:nvSpPr>
          <p:cNvPr id="11" name="Shape 9"/>
          <p:cNvSpPr/>
          <p:nvPr/>
        </p:nvSpPr>
        <p:spPr>
          <a:xfrm>
            <a:off x="6409944" y="2212848"/>
            <a:ext cx="384048" cy="384048"/>
          </a:xfrm>
          <a:prstGeom prst="ellipse">
            <a:avLst/>
          </a:prstGeom>
          <a:solidFill>
            <a:srgbClr val="F0B95E"/>
          </a:solidFill>
          <a:ln/>
        </p:spPr>
      </p:sp>
      <p:sp>
        <p:nvSpPr>
          <p:cNvPr id="12" name="Text 10"/>
          <p:cNvSpPr/>
          <p:nvPr/>
        </p:nvSpPr>
        <p:spPr>
          <a:xfrm>
            <a:off x="6409944" y="2212848"/>
            <a:ext cx="384048" cy="384048"/>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903720" y="2194560"/>
            <a:ext cx="4507992"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Payment is not approval</a:t>
            </a:r>
            <a:endParaRPr lang="en-US" sz="1300" dirty="0"/>
          </a:p>
        </p:txBody>
      </p:sp>
      <p:sp>
        <p:nvSpPr>
          <p:cNvPr id="14" name="Text 12"/>
          <p:cNvSpPr/>
          <p:nvPr/>
        </p:nvSpPr>
        <p:spPr>
          <a:xfrm>
            <a:off x="6428232" y="2706624"/>
            <a:ext cx="4928616" cy="658368"/>
          </a:xfrm>
          <a:prstGeom prst="rect">
            <a:avLst/>
          </a:prstGeom>
          <a:noFill/>
          <a:ln/>
        </p:spPr>
        <p:txBody>
          <a:bodyPr wrap="square" lIns="0" tIns="0" rIns="0" bIns="0" rtlCol="0" anchor="ctr"/>
          <a:lstStyle/>
          <a:p>
            <a:pPr indent="0" marL="0">
              <a:buNone/>
            </a:pPr>
            <a:r>
              <a:rPr lang="en-US" sz="1050" dirty="0">
                <a:solidFill>
                  <a:srgbClr val="B8D6DF"/>
                </a:solidFill>
                <a:latin typeface="Calibri" pitchFamily="34" charset="0"/>
                <a:ea typeface="Calibri" pitchFamily="34" charset="-122"/>
                <a:cs typeface="Calibri" pitchFamily="34" charset="-120"/>
              </a:rPr>
              <a:t>The system pays first and audits later, on a forty-year-old engine that cannot match provider identity. A paid claim proves nothing about validity.</a:t>
            </a:r>
            <a:endParaRPr lang="en-US" sz="1050" dirty="0"/>
          </a:p>
        </p:txBody>
      </p:sp>
      <p:sp>
        <p:nvSpPr>
          <p:cNvPr id="15" name="Shape 13"/>
          <p:cNvSpPr/>
          <p:nvPr/>
        </p:nvSpPr>
        <p:spPr>
          <a:xfrm>
            <a:off x="548640" y="3621024"/>
            <a:ext cx="5440680" cy="1444752"/>
          </a:xfrm>
          <a:prstGeom prst="roundRect">
            <a:avLst>
              <a:gd name="adj" fmla="val 6329"/>
            </a:avLst>
          </a:prstGeom>
          <a:solidFill>
            <a:srgbClr val="103F4C"/>
          </a:solidFill>
          <a:ln w="12700">
            <a:solidFill>
              <a:srgbClr val="2A6B7C"/>
            </a:solidFill>
            <a:prstDash val="solid"/>
          </a:ln>
        </p:spPr>
      </p:sp>
      <p:sp>
        <p:nvSpPr>
          <p:cNvPr id="16" name="Shape 14"/>
          <p:cNvSpPr/>
          <p:nvPr/>
        </p:nvSpPr>
        <p:spPr>
          <a:xfrm>
            <a:off x="786384" y="3840480"/>
            <a:ext cx="384048" cy="384048"/>
          </a:xfrm>
          <a:prstGeom prst="ellipse">
            <a:avLst/>
          </a:prstGeom>
          <a:solidFill>
            <a:srgbClr val="F0B95E"/>
          </a:solidFill>
          <a:ln/>
        </p:spPr>
      </p:sp>
      <p:sp>
        <p:nvSpPr>
          <p:cNvPr id="17" name="Text 15"/>
          <p:cNvSpPr/>
          <p:nvPr/>
        </p:nvSpPr>
        <p:spPr>
          <a:xfrm>
            <a:off x="786384" y="3840480"/>
            <a:ext cx="384048" cy="384048"/>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280160" y="3822192"/>
            <a:ext cx="4507992"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Evidence is the product</a:t>
            </a:r>
            <a:endParaRPr lang="en-US" sz="1300" dirty="0"/>
          </a:p>
        </p:txBody>
      </p:sp>
      <p:sp>
        <p:nvSpPr>
          <p:cNvPr id="19" name="Text 17"/>
          <p:cNvSpPr/>
          <p:nvPr/>
        </p:nvSpPr>
        <p:spPr>
          <a:xfrm>
            <a:off x="804672" y="4334256"/>
            <a:ext cx="4928616" cy="658368"/>
          </a:xfrm>
          <a:prstGeom prst="rect">
            <a:avLst/>
          </a:prstGeom>
          <a:noFill/>
          <a:ln/>
        </p:spPr>
        <p:txBody>
          <a:bodyPr wrap="square" lIns="0" tIns="0" rIns="0" bIns="0" rtlCol="0" anchor="ctr"/>
          <a:lstStyle/>
          <a:p>
            <a:pPr indent="0" marL="0">
              <a:buNone/>
            </a:pPr>
            <a:r>
              <a:rPr lang="en-US" sz="1050" dirty="0">
                <a:solidFill>
                  <a:srgbClr val="B8D6DF"/>
                </a:solidFill>
                <a:latin typeface="Calibri" pitchFamily="34" charset="0"/>
                <a:ea typeface="Calibri" pitchFamily="34" charset="-122"/>
                <a:cs typeface="Calibri" pitchFamily="34" charset="-120"/>
              </a:rPr>
              <a:t>Most leakage is error and poor record keeping, not premeditated fraud. A platform that makes the record complete addresses the majority of the problem.</a:t>
            </a:r>
            <a:endParaRPr lang="en-US" sz="1050" dirty="0"/>
          </a:p>
        </p:txBody>
      </p:sp>
      <p:sp>
        <p:nvSpPr>
          <p:cNvPr id="20" name="Shape 18"/>
          <p:cNvSpPr/>
          <p:nvPr/>
        </p:nvSpPr>
        <p:spPr>
          <a:xfrm>
            <a:off x="6172200" y="3621024"/>
            <a:ext cx="5440680" cy="1444752"/>
          </a:xfrm>
          <a:prstGeom prst="roundRect">
            <a:avLst>
              <a:gd name="adj" fmla="val 6329"/>
            </a:avLst>
          </a:prstGeom>
          <a:solidFill>
            <a:srgbClr val="103F4C"/>
          </a:solidFill>
          <a:ln w="12700">
            <a:solidFill>
              <a:srgbClr val="2A6B7C"/>
            </a:solidFill>
            <a:prstDash val="solid"/>
          </a:ln>
        </p:spPr>
      </p:sp>
      <p:sp>
        <p:nvSpPr>
          <p:cNvPr id="21" name="Shape 19"/>
          <p:cNvSpPr/>
          <p:nvPr/>
        </p:nvSpPr>
        <p:spPr>
          <a:xfrm>
            <a:off x="6409944" y="3840480"/>
            <a:ext cx="384048" cy="384048"/>
          </a:xfrm>
          <a:prstGeom prst="ellipse">
            <a:avLst/>
          </a:prstGeom>
          <a:solidFill>
            <a:srgbClr val="F0B95E"/>
          </a:solidFill>
          <a:ln/>
        </p:spPr>
      </p:sp>
      <p:sp>
        <p:nvSpPr>
          <p:cNvPr id="22" name="Text 20"/>
          <p:cNvSpPr/>
          <p:nvPr/>
        </p:nvSpPr>
        <p:spPr>
          <a:xfrm>
            <a:off x="6409944" y="3840480"/>
            <a:ext cx="384048" cy="384048"/>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6903720" y="3822192"/>
            <a:ext cx="4507992"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window is one year</a:t>
            </a:r>
            <a:endParaRPr lang="en-US" sz="1300" dirty="0"/>
          </a:p>
        </p:txBody>
      </p:sp>
      <p:sp>
        <p:nvSpPr>
          <p:cNvPr id="24" name="Text 22"/>
          <p:cNvSpPr/>
          <p:nvPr/>
        </p:nvSpPr>
        <p:spPr>
          <a:xfrm>
            <a:off x="6428232" y="4334256"/>
            <a:ext cx="4928616" cy="658368"/>
          </a:xfrm>
          <a:prstGeom prst="rect">
            <a:avLst/>
          </a:prstGeom>
          <a:noFill/>
          <a:ln/>
        </p:spPr>
        <p:txBody>
          <a:bodyPr wrap="square" lIns="0" tIns="0" rIns="0" bIns="0" rtlCol="0" anchor="ctr"/>
          <a:lstStyle/>
          <a:p>
            <a:pPr indent="0" marL="0">
              <a:buNone/>
            </a:pPr>
            <a:r>
              <a:rPr lang="en-US" sz="1050" dirty="0">
                <a:solidFill>
                  <a:srgbClr val="B8D6DF"/>
                </a:solidFill>
                <a:latin typeface="Calibri" pitchFamily="34" charset="0"/>
                <a:ea typeface="Calibri" pitchFamily="34" charset="-122"/>
                <a:cs typeface="Calibri" pitchFamily="34" charset="-120"/>
              </a:rPr>
              <a:t>A bulk-billed claim must be lodged within twelve months of the item. An agreement chased too slowly is not a delayed payment — it is a lost one.</a:t>
            </a:r>
            <a:endParaRPr lang="en-US" sz="1050" dirty="0"/>
          </a:p>
        </p:txBody>
      </p:sp>
      <p:sp>
        <p:nvSpPr>
          <p:cNvPr id="25" name="Text 23"/>
          <p:cNvSpPr/>
          <p:nvPr/>
        </p:nvSpPr>
        <p:spPr>
          <a:xfrm>
            <a:off x="548640" y="6071616"/>
            <a:ext cx="11064240" cy="438912"/>
          </a:xfrm>
          <a:prstGeom prst="rect">
            <a:avLst/>
          </a:prstGeom>
          <a:noFill/>
          <a:ln/>
        </p:spPr>
        <p:txBody>
          <a:bodyPr wrap="square" lIns="0" tIns="0" rIns="0" bIns="0" rtlCol="0" anchor="ctr"/>
          <a:lstStyle/>
          <a:p>
            <a:pPr indent="0" marL="0">
              <a:buNone/>
            </a:pPr>
            <a:r>
              <a:rPr lang="en-US" sz="900" dirty="0">
                <a:solidFill>
                  <a:srgbClr val="6E9FAE"/>
                </a:solidFill>
                <a:latin typeface="Calibri" pitchFamily="34" charset="0"/>
                <a:ea typeface="Calibri" pitchFamily="34" charset="-122"/>
                <a:cs typeface="Calibri" pitchFamily="34" charset="-120"/>
              </a:rPr>
              <a:t>Sources: Philip Review 2023; PSR Annual Report 2024-25; ANAO Reports No. 17 2020-21 and No. 7 2024-25; Services Australia payment timeframes and Annual Report 2024-25; Health Legislation Amendment (Improved Medicare Integrity and Other Measures) Act 2025; MBS Online.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Medicare — money flow, timing and integrity</dc:title>
  <dc:subject>PptxGenJS Presentation</dc:subject>
  <dc:creator>AoBPlatform</dc:creator>
  <cp:lastModifiedBy>AoBPlatform</cp:lastModifiedBy>
  <cp:revision>1</cp:revision>
  <dcterms:created xsi:type="dcterms:W3CDTF">2026-08-20T02:16:30Z</dcterms:created>
  <dcterms:modified xsi:type="dcterms:W3CDTF">2026-08-20T02:16:30Z</dcterms:modified>
</cp:coreProperties>
</file>